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6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285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10" r:id="rId53"/>
    <p:sldId id="311" r:id="rId54"/>
    <p:sldId id="312" r:id="rId55"/>
    <p:sldId id="313" r:id="rId56"/>
    <p:sldId id="314" r:id="rId57"/>
    <p:sldId id="307" r:id="rId58"/>
    <p:sldId id="308" r:id="rId59"/>
    <p:sldId id="309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920"/>
    <p:restoredTop sz="94677"/>
  </p:normalViewPr>
  <p:slideViewPr>
    <p:cSldViewPr snapToGrid="0">
      <p:cViewPr varScale="1">
        <p:scale>
          <a:sx n="59" d="100"/>
          <a:sy n="59" d="100"/>
        </p:scale>
        <p:origin x="200" y="1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21F57E-D5BA-82FD-C7BF-0A893E246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FC9723-47DF-F8E6-3CB0-4A890CA4C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D95A26-B158-7B63-6EF9-4B9082A8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55F24-6E42-ABCE-C0C0-A954D4D1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89A6B3-DF2C-8B03-E6B3-04EB1CA0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17118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C2DF5-DEF3-FFC9-5250-4BF8F3AA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FCE799-D66B-7400-9F98-777A5AD2A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62682-5790-BF6A-257B-6ED5C806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F562F9-4223-FE78-0995-28DBE161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63179C-7E27-633C-911A-F2A98268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1013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F3BEE-83F0-A78F-759F-110531C61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B0B248-72FA-45D9-FDA6-8A8AE2131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9F3364-7B7A-1373-8DF0-393C4E150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203649-417A-F9C9-2349-8ADC6BD9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B0BABB-DEB3-1397-CCC9-75A91C84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0480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A6591-11F8-EEB7-E761-8EF6CA7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D9436C-0C85-6562-3580-18947C883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E1B89E-6A87-C98B-1065-77AFD89E1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353D42-92E0-F560-D3FC-8A3F3E9C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92EDE4-3BCA-35CD-8F16-CD9E78B9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BFDA82-54E3-4AA6-7F3D-509E1ED0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02667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82FC6-834D-4A9F-82B7-D392795B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372E61-8A08-AADB-7396-07D92B481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B0DDDC-FDF2-DF10-81E8-7C87EE256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CBEA8F4-D8FF-6414-F983-072A00B83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7FB4BD-52E4-3B63-3E5E-75A1862FA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1407A27-FA3F-5674-3787-5BC46FCD2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A8CF667-A964-203B-D6BA-E0E2BAF11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188D69-D9F8-7B06-AEAE-D5F2D282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9213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F4466-BFB8-367A-215C-59E39F35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761B99D-C326-F209-BA00-7288A521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201B48-DC05-26EC-AE06-D60CFFA3F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16D907B-109E-D63D-FB54-F4B93056D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32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EED4B9F-1FAD-11C9-93B6-8186B0DC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94006A2-097D-2E19-1B4C-04E33B59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17CE53-1361-B0EC-F3BB-852A0C75E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0567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04D718-5CCD-1175-54EA-78559AB6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CAEE3B-F4A2-862B-0B99-FD9F3DBD2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C60BD8-E9F6-606C-7AA7-73394E204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7FB124-8113-96E9-3A9E-136EC8488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8D026D-226C-EE5C-1AE8-08BD4388E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91A3CD-FFE0-7DED-C92D-50A210758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3790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4A280-9D45-3FB1-89A0-E7F6FD428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2264A8-EA91-FCAA-B87A-3D28EBD71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AFFE53-4517-30DC-1586-E0498E3C1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C46319-9966-4A5A-BAA8-24F33964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D75847-6DB0-4BDC-D5D3-EC8B80B58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34A992-A5EC-3B8B-999A-C8BC3BED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72415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899DA-F28D-93FB-7F86-F586E08D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B1C8684-AC78-EDFE-68FF-759BC5F28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18826B-3180-0183-A808-F7ECE697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8C07D1-CAD3-4E3A-A138-F8F9FBD5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D90BBB-DE8D-E380-F72E-38076BDA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6299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3554EE8-5BDB-F7A6-AC3F-09AE0A0B5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08610F-10DF-CAFD-2A04-803A6FBE5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BF108A-953D-5B75-D433-8C819FCF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7B6A2F-0459-DC04-84F6-8BF01D67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6D3AD2-7AA7-C6EE-CA29-6DBA8B64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0723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9E43D-9276-BAD1-EAF6-ADAD3A5AC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81A9E2-63F9-2E1D-33BB-73D886503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4817FD-B4FC-49B3-F849-70243D343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CBEC5F-8F72-B843-BF66-0F217674E3B4}" type="datetimeFigureOut">
              <a:rPr lang="ru-KZ" smtClean="0"/>
              <a:t>17.03.2026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C4E4E5-7A82-32A5-0342-10D8768D5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5FADF5-486A-8074-E2D4-BB08129D6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5ADB6-153C-9443-9D67-099A0AAFE7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8804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F899C9-52AD-5F44-3672-74E951E2A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C3ED2-06C9-AE04-3CEC-A36877C94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00432"/>
            <a:ext cx="9144000" cy="2387600"/>
          </a:xfrm>
        </p:spPr>
        <p:txBody>
          <a:bodyPr>
            <a:normAutofit/>
          </a:bodyPr>
          <a:lstStyle/>
          <a:p>
            <a:r>
              <a:rPr lang="ru-KZ" sz="6600" dirty="0">
                <a:latin typeface="JUZ40 FONTS Medium" panose="020B0003030000020004" pitchFamily="34" charset="0"/>
              </a:rPr>
              <a:t>№ </a:t>
            </a:r>
            <a:r>
              <a:rPr lang="en-US" sz="6600" dirty="0">
                <a:latin typeface="JUZ40 FONTS Medium" panose="020B0003030000020004" pitchFamily="34" charset="0"/>
              </a:rPr>
              <a:t>1 </a:t>
            </a:r>
            <a:r>
              <a:rPr lang="ru-KZ" sz="6600" dirty="0">
                <a:latin typeface="JUZ40 FONTS Medium" panose="020B0003030000020004" pitchFamily="34" charset="0"/>
              </a:rPr>
              <a:t>Практикалық сабақ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D82A22-67AB-3C6C-E320-9185BF04A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0107"/>
            <a:ext cx="9144000" cy="1655762"/>
          </a:xfrm>
        </p:spPr>
        <p:txBody>
          <a:bodyPr>
            <a:normAutofit/>
          </a:bodyPr>
          <a:lstStyle/>
          <a:p>
            <a:r>
              <a:rPr lang="ru-KZ" sz="4400" dirty="0">
                <a:solidFill>
                  <a:srgbClr val="007EFF"/>
                </a:solidFill>
                <a:latin typeface="JUZ40 FONTS Medium" panose="020B0003030000020004" pitchFamily="34" charset="0"/>
              </a:rPr>
              <a:t>Алғашқы химиялық ұғымдар</a:t>
            </a:r>
          </a:p>
        </p:txBody>
      </p:sp>
    </p:spTree>
    <p:extLst>
      <p:ext uri="{BB962C8B-B14F-4D97-AF65-F5344CB8AC3E}">
        <p14:creationId xmlns:p14="http://schemas.microsoft.com/office/powerpoint/2010/main" val="264041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080BB-1C04-DFBF-9D4B-36FA7358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A85B3B-4A7B-D117-A399-9040C3350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3A38EE-3CBB-BE50-74D5-2D295C18F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751497"/>
          </a:xfrm>
        </p:spPr>
        <p:txBody>
          <a:bodyPr>
            <a:normAutofit/>
          </a:bodyPr>
          <a:lstStyle/>
          <a:p>
            <a:r>
              <a:rPr lang="ru-KZ" sz="4400" dirty="0">
                <a:solidFill>
                  <a:srgbClr val="007EFF"/>
                </a:solidFill>
                <a:latin typeface="JUZ40 FONTS Medium" panose="020B0003030000020004" pitchFamily="34" charset="0"/>
              </a:rPr>
              <a:t>ЖОСПАР: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3DFCDECB-0A25-BE4F-C982-4F6EE9611AC8}"/>
              </a:ext>
            </a:extLst>
          </p:cNvPr>
          <p:cNvSpPr txBox="1">
            <a:spLocks/>
          </p:cNvSpPr>
          <p:nvPr/>
        </p:nvSpPr>
        <p:spPr>
          <a:xfrm>
            <a:off x="463206" y="2340045"/>
            <a:ext cx="11265588" cy="4082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k-KZ" sz="2000" dirty="0">
                <a:latin typeface="JUZ40 FONTS Medium" panose="020B0003030000020004" pitchFamily="34" charset="0"/>
              </a:rPr>
              <a:t>1. Химия пәні: таза және қоспа заттар</a:t>
            </a:r>
            <a:endParaRPr lang="ru-KZ" sz="2000" dirty="0">
              <a:latin typeface="JUZ40 FONTS Medium" panose="020B0003030000020004" pitchFamily="34" charset="0"/>
            </a:endParaRPr>
          </a:p>
          <a:p>
            <a:pPr algn="l"/>
            <a:r>
              <a:rPr lang="kk-KZ" sz="2000" dirty="0">
                <a:latin typeface="JUZ40 FONTS Medium" panose="020B0003030000020004" pitchFamily="34" charset="0"/>
              </a:rPr>
              <a:t>2. Физикалық және химиялық құбылыстар</a:t>
            </a:r>
            <a:endParaRPr lang="ru-KZ" sz="2000" dirty="0">
              <a:latin typeface="JUZ40 FONTS Medium" panose="020B0003030000020004" pitchFamily="34" charset="0"/>
            </a:endParaRPr>
          </a:p>
          <a:p>
            <a:pPr algn="l"/>
            <a:r>
              <a:rPr lang="kk-KZ" sz="2000" dirty="0">
                <a:latin typeface="JUZ40 FONTS Medium" panose="020B0003030000020004" pitchFamily="34" charset="0"/>
              </a:rPr>
              <a:t>3. Металдар мен </a:t>
            </a:r>
            <a:r>
              <a:rPr lang="kk-KZ" sz="2000" dirty="0" err="1">
                <a:latin typeface="JUZ40 FONTS Medium" panose="020B0003030000020004" pitchFamily="34" charset="0"/>
              </a:rPr>
              <a:t>бейметалдар</a:t>
            </a:r>
            <a:endParaRPr lang="ru-KZ" sz="2000" dirty="0">
              <a:latin typeface="JUZ40 FONTS Medium" panose="020B0003030000020004" pitchFamily="34" charset="0"/>
            </a:endParaRPr>
          </a:p>
          <a:p>
            <a:pPr algn="l"/>
            <a:r>
              <a:rPr lang="ru-RU" sz="2000" dirty="0">
                <a:latin typeface="JUZ40 FONTS Medium" panose="020B0003030000020004" pitchFamily="34" charset="0"/>
              </a:rPr>
              <a:t>4. </a:t>
            </a:r>
            <a:r>
              <a:rPr lang="kk-KZ" sz="2000" dirty="0">
                <a:latin typeface="JUZ40 FONTS Medium" panose="020B0003030000020004" pitchFamily="34" charset="0"/>
              </a:rPr>
              <a:t>Периодтық кесте</a:t>
            </a:r>
            <a:endParaRPr lang="ru-KZ" sz="2000" dirty="0">
              <a:latin typeface="JUZ40 FONTS Medium" panose="020B0003030000020004" pitchFamily="34" charset="0"/>
            </a:endParaRPr>
          </a:p>
          <a:p>
            <a:pPr algn="l"/>
            <a:r>
              <a:rPr lang="ru-RU" sz="2000" dirty="0">
                <a:latin typeface="JUZ40 FONTS Medium" panose="020B0003030000020004" pitchFamily="34" charset="0"/>
              </a:rPr>
              <a:t>5. </a:t>
            </a:r>
            <a:r>
              <a:rPr lang="kk-KZ" sz="2000" dirty="0">
                <a:latin typeface="JUZ40 FONTS Medium" panose="020B0003030000020004" pitchFamily="34" charset="0"/>
              </a:rPr>
              <a:t>Атом құрылысы</a:t>
            </a:r>
            <a:endParaRPr lang="ru-KZ" sz="2000" dirty="0">
              <a:latin typeface="JUZ40 FONTS Medium" panose="020B0003030000020004" pitchFamily="34" charset="0"/>
            </a:endParaRPr>
          </a:p>
          <a:p>
            <a:pPr algn="l"/>
            <a:r>
              <a:rPr lang="ru-RU" sz="2000" dirty="0">
                <a:latin typeface="JUZ40 FONTS Medium" panose="020B0003030000020004" pitchFamily="34" charset="0"/>
              </a:rPr>
              <a:t>6. </a:t>
            </a:r>
            <a:r>
              <a:rPr lang="kk-KZ" sz="2000" dirty="0">
                <a:latin typeface="JUZ40 FONTS Medium" panose="020B0003030000020004" pitchFamily="34" charset="0"/>
              </a:rPr>
              <a:t>Валенттілік: Формула құрастыру</a:t>
            </a:r>
            <a:endParaRPr lang="ru-KZ" sz="2000" dirty="0">
              <a:latin typeface="JUZ40 FONTS Medium" panose="020B0003030000020004" pitchFamily="34" charset="0"/>
            </a:endParaRPr>
          </a:p>
          <a:p>
            <a:pPr algn="l"/>
            <a:r>
              <a:rPr lang="kk-KZ" sz="2000" dirty="0">
                <a:latin typeface="JUZ40 FONTS Medium" panose="020B0003030000020004" pitchFamily="34" charset="0"/>
              </a:rPr>
              <a:t>7. Алғашқы химиялық есептеулер</a:t>
            </a:r>
            <a:endParaRPr lang="ru-KZ" sz="2000" dirty="0">
              <a:latin typeface="JUZ40 FONTS Medium" panose="020B0003030000020004" pitchFamily="34" charset="0"/>
            </a:endParaRPr>
          </a:p>
          <a:p>
            <a:pPr algn="l"/>
            <a:r>
              <a:rPr lang="kk-KZ" sz="2000" dirty="0">
                <a:latin typeface="JUZ40 FONTS Medium" panose="020B0003030000020004" pitchFamily="34" charset="0"/>
              </a:rPr>
              <a:t>8. Реакция типтері</a:t>
            </a:r>
            <a:endParaRPr lang="ru-KZ" sz="2000" dirty="0">
              <a:latin typeface="JUZ40 FONTS Medium" panose="020B0003030000020004" pitchFamily="34" charset="0"/>
            </a:endParaRPr>
          </a:p>
          <a:p>
            <a:pPr algn="l"/>
            <a:r>
              <a:rPr lang="kk-KZ" sz="2000" dirty="0">
                <a:latin typeface="JUZ40 FONTS Medium" panose="020B0003030000020004" pitchFamily="34" charset="0"/>
              </a:rPr>
              <a:t>9. Байланыс және кристалдық торлар</a:t>
            </a:r>
            <a:endParaRPr lang="ru-KZ" sz="2000" dirty="0">
              <a:latin typeface="JUZ40 FONTS Medium" panose="020B0003030000020004" pitchFamily="34" charset="0"/>
            </a:endParaRPr>
          </a:p>
          <a:p>
            <a:pPr algn="l"/>
            <a:r>
              <a:rPr lang="kk-KZ" sz="2000" dirty="0">
                <a:latin typeface="JUZ40 FONTS Medium" panose="020B0003030000020004" pitchFamily="34" charset="0"/>
              </a:rPr>
              <a:t>10. Байланыстарға тән қасиеттері</a:t>
            </a:r>
            <a:endParaRPr lang="ru-KZ" sz="20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334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C121-C233-9F35-9767-484530CB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0D0842-B34B-C904-702C-588B5A107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059BD0-027C-E164-0F32-8C1F14072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600" dirty="0">
                <a:latin typeface="JUZ40 FONTS Medium" panose="020B0003030000020004" pitchFamily="34" charset="0"/>
              </a:rPr>
              <a:t>1. Өлшемі және пішіні бойынша ажыратылады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A</a:t>
            </a:r>
            <a:r>
              <a:rPr lang="kk-KZ" sz="3600" dirty="0">
                <a:latin typeface="JUZ40 FONTS Medium" panose="020B0003030000020004" pitchFamily="34" charset="0"/>
              </a:rPr>
              <a:t>) физикалық дене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B</a:t>
            </a:r>
            <a:r>
              <a:rPr lang="kk-KZ" sz="3600" dirty="0">
                <a:latin typeface="JUZ40 FONTS Medium" panose="020B0003030000020004" pitchFamily="34" charset="0"/>
              </a:rPr>
              <a:t>) құбылыс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C) физикалық қасиет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D) химиялық дене</a:t>
            </a:r>
            <a:endParaRPr lang="ru-KZ" sz="36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051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49EC3-BBBB-1A46-314C-148DE045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B8451C-D962-9960-2F50-7472132A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83D445-6A1C-91E2-FCE6-1DA43691B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2. Заттың қасиетіне жатпайды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A</a:t>
            </a:r>
            <a:r>
              <a:rPr lang="kk-KZ" sz="3200" dirty="0">
                <a:latin typeface="JUZ40 FONTS Medium" panose="020B0003030000020004" pitchFamily="34" charset="0"/>
              </a:rPr>
              <a:t>) агрегаттық күй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B</a:t>
            </a:r>
            <a:r>
              <a:rPr lang="kk-KZ" sz="3200" dirty="0">
                <a:latin typeface="JUZ40 FONTS Medium" panose="020B0003030000020004" pitchFamily="34" charset="0"/>
              </a:rPr>
              <a:t>) түсі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C) ерігіштігі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D) молекула саны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379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3DC6-95E1-35B9-D5C6-A1ADFDE0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1FF668-A600-8B40-6547-8A906F19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6CF36F-B1BD-9820-3051-A252E59C0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600" dirty="0">
                <a:latin typeface="JUZ40 FONTS Medium" panose="020B0003030000020004" pitchFamily="34" charset="0"/>
              </a:rPr>
              <a:t>3. Заттың қасиетін сақтайтын ұсақ бөлшек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A</a:t>
            </a:r>
            <a:r>
              <a:rPr lang="kk-KZ" sz="3600" dirty="0">
                <a:latin typeface="JUZ40 FONTS Medium" panose="020B0003030000020004" pitchFamily="34" charset="0"/>
              </a:rPr>
              <a:t>) атом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en-US" sz="3600" dirty="0">
                <a:latin typeface="JUZ40 FONTS Medium" panose="020B0003030000020004" pitchFamily="34" charset="0"/>
              </a:rPr>
              <a:t>B</a:t>
            </a:r>
            <a:r>
              <a:rPr lang="ru-KZ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молекула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en-US" sz="3600" dirty="0">
                <a:latin typeface="JUZ40 FONTS Medium" panose="020B0003030000020004" pitchFamily="34" charset="0"/>
              </a:rPr>
              <a:t>C</a:t>
            </a:r>
            <a:r>
              <a:rPr lang="ru-KZ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элемент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D</a:t>
            </a:r>
            <a:r>
              <a:rPr lang="ru-KZ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 err="1">
                <a:latin typeface="JUZ40 FONTS Medium" panose="020B0003030000020004" pitchFamily="34" charset="0"/>
              </a:rPr>
              <a:t>нуклон</a:t>
            </a:r>
            <a:endParaRPr lang="ru-KZ" sz="36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7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A327-0D9A-6826-B685-F808CF391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DE1146-47C3-5ABB-68B7-2F72E7D11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2A92DD-70A9-65F9-D2AC-E85DAC5C8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4. Келесі тізімнің ішінде заттардың саны: 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Темір шеге, ас қасық, күміс сақина, фарфор ыдыс, мыс сым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A</a:t>
            </a:r>
            <a:r>
              <a:rPr lang="kk-KZ" sz="3200" dirty="0">
                <a:latin typeface="JUZ40 FONTS Medium" panose="020B0003030000020004" pitchFamily="34" charset="0"/>
              </a:rPr>
              <a:t>) 5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B</a:t>
            </a:r>
            <a:r>
              <a:rPr lang="kk-KZ" sz="3200" dirty="0">
                <a:latin typeface="JUZ40 FONTS Medium" panose="020B0003030000020004" pitchFamily="34" charset="0"/>
              </a:rPr>
              <a:t>) 4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C) 6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D) 3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154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18E60-5B27-613D-941B-664C9C70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967C75-9F89-2870-5D3F-2070E89C1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D2215224-9407-6DDF-5295-A96C636CD396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63206" y="1425645"/>
                <a:ext cx="11265588" cy="3364069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kk-KZ" dirty="0">
                    <a:latin typeface="JUZ40 FONTS Medium" panose="020B0003030000020004" pitchFamily="34" charset="0"/>
                  </a:rPr>
                  <a:t>5. Судың қасиетіне жатпайды</a:t>
                </a:r>
                <a:endParaRPr lang="ru-KZ" dirty="0">
                  <a:latin typeface="JUZ40 FONTS Medium" panose="020B0003030000020004" pitchFamily="34" charset="0"/>
                </a:endParaRPr>
              </a:p>
              <a:p>
                <a:pPr algn="l"/>
                <a:r>
                  <a:rPr lang="kk-KZ" dirty="0" err="1">
                    <a:latin typeface="JUZ40 FONTS Medium" panose="020B0003030000020004" pitchFamily="34" charset="0"/>
                  </a:rPr>
                  <a:t>A</a:t>
                </a:r>
                <a:r>
                  <a:rPr lang="kk-KZ" dirty="0">
                    <a:latin typeface="JUZ40 FONTS Medium" panose="020B0003030000020004" pitchFamily="34" charset="0"/>
                  </a:rPr>
                  <a:t>) қайнау температурасы – </a:t>
                </a:r>
                <a14:m>
                  <m:oMath xmlns:m="http://schemas.openxmlformats.org/officeDocument/2006/math">
                    <m:r>
                      <a:rPr lang="kk-KZ" b="0" i="0" smtClean="0">
                        <a:latin typeface="Cambria Math" panose="02040503050406030204" pitchFamily="18" charset="0"/>
                      </a:rPr>
                      <m:t>100℃</m:t>
                    </m:r>
                  </m:oMath>
                </a14:m>
                <a:endParaRPr lang="ru-KZ" dirty="0">
                  <a:latin typeface="JUZ40 FONTS Medium" panose="020B0003030000020004" pitchFamily="34" charset="0"/>
                </a:endParaRPr>
              </a:p>
              <a:p>
                <a:pPr algn="l"/>
                <a:r>
                  <a:rPr lang="kk-KZ" dirty="0" err="1">
                    <a:latin typeface="JUZ40 FONTS Medium" panose="020B0003030000020004" pitchFamily="34" charset="0"/>
                  </a:rPr>
                  <a:t>B</a:t>
                </a:r>
                <a:r>
                  <a:rPr lang="kk-KZ" dirty="0">
                    <a:latin typeface="JUZ40 FONTS Medium" panose="020B0003030000020004" pitchFamily="34" charset="0"/>
                  </a:rPr>
                  <a:t>) түссіз, мөлдір сұйықтық</a:t>
                </a:r>
                <a:endParaRPr lang="ru-KZ" dirty="0">
                  <a:latin typeface="JUZ40 FONTS Medium" panose="020B0003030000020004" pitchFamily="34" charset="0"/>
                </a:endParaRPr>
              </a:p>
              <a:p>
                <a:pPr algn="l"/>
                <a:r>
                  <a:rPr lang="kk-KZ" dirty="0">
                    <a:latin typeface="JUZ40 FONTS Medium" panose="020B0003030000020004" pitchFamily="34" charset="0"/>
                  </a:rPr>
                  <a:t>C) тығыздығы 1 </a:t>
                </a:r>
                <a:r>
                  <a:rPr lang="kk-KZ" dirty="0" err="1">
                    <a:latin typeface="JUZ40 FONTS Medium" panose="020B0003030000020004" pitchFamily="34" charset="0"/>
                  </a:rPr>
                  <a:t>г</a:t>
                </a:r>
                <a:r>
                  <a:rPr lang="kk-KZ" dirty="0">
                    <a:latin typeface="JUZ40 FONTS Medium" panose="020B0003030000020004" pitchFamily="34" charset="0"/>
                  </a:rPr>
                  <a:t>/cм</a:t>
                </a:r>
                <a:r>
                  <a:rPr lang="kk-KZ" baseline="30000" dirty="0">
                    <a:latin typeface="JUZ40 FONTS Medium" panose="020B0003030000020004" pitchFamily="34" charset="0"/>
                  </a:rPr>
                  <a:t>3</a:t>
                </a:r>
                <a:endParaRPr lang="ru-KZ" dirty="0">
                  <a:latin typeface="JUZ40 FONTS Medium" panose="020B0003030000020004" pitchFamily="34" charset="0"/>
                </a:endParaRPr>
              </a:p>
              <a:p>
                <a:pPr algn="l"/>
                <a:r>
                  <a:rPr lang="kk-KZ" dirty="0">
                    <a:latin typeface="JUZ40 FONTS Medium" panose="020B0003030000020004" pitchFamily="34" charset="0"/>
                  </a:rPr>
                  <a:t>D) тәтті дәмі бар сұйық зат</a:t>
                </a:r>
                <a:endParaRPr lang="ru-KZ" dirty="0">
                  <a:latin typeface="JUZ40 FONTS Medium" panose="020B0003030000020004" pitchFamily="34" charset="0"/>
                </a:endParaRPr>
              </a:p>
            </p:txBody>
          </p:sp>
        </mc:Choice>
        <mc:Fallback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D2215224-9407-6DDF-5295-A96C636CD3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63206" y="1425645"/>
                <a:ext cx="11265588" cy="3364069"/>
              </a:xfrm>
              <a:blipFill>
                <a:blip r:embed="rId3"/>
                <a:stretch>
                  <a:fillRect l="-901" t="-2632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559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74E41-C2D7-5A3D-2A40-DDF74837E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9A256B-A7AD-7FD8-DE80-9A35FF981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313724-8DBA-A07F-F9CC-0217E11DD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ru-KZ" dirty="0">
                <a:latin typeface="JUZ40 FONTS Medium" panose="020B0003030000020004" pitchFamily="34" charset="0"/>
              </a:rPr>
              <a:t>6</a:t>
            </a:r>
            <a:r>
              <a:rPr lang="kk-KZ" dirty="0">
                <a:latin typeface="JUZ40 FONTS Medium" panose="020B0003030000020004" pitchFamily="34" charset="0"/>
              </a:rPr>
              <a:t>. Таза зат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A</a:t>
            </a:r>
            <a:r>
              <a:rPr lang="kk-KZ" dirty="0">
                <a:latin typeface="JUZ40 FONTS Medium" panose="020B0003030000020004" pitchFamily="34" charset="0"/>
              </a:rPr>
              <a:t>) ерітінді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B</a:t>
            </a:r>
            <a:r>
              <a:rPr lang="kk-KZ" dirty="0">
                <a:latin typeface="JUZ40 FONTS Medium" panose="020B0003030000020004" pitchFamily="34" charset="0"/>
              </a:rPr>
              <a:t>) құйма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C) ауа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D</a:t>
            </a:r>
            <a:r>
              <a:rPr lang="ru-KZ" dirty="0">
                <a:latin typeface="JUZ40 FONTS Medium" panose="020B0003030000020004" pitchFamily="34" charset="0"/>
              </a:rPr>
              <a:t>) </a:t>
            </a:r>
            <a:r>
              <a:rPr lang="kk-KZ" dirty="0">
                <a:latin typeface="JUZ40 FONTS Medium" panose="020B0003030000020004" pitchFamily="34" charset="0"/>
              </a:rPr>
              <a:t>мыс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971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1CB93-289A-BBB7-4C4C-C8493E94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4CB840-56D2-3FB1-09BB-65B9A93F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4A38CE-9FA9-B487-7CE3-01D97C8D3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ru-KZ" sz="3600" dirty="0">
                <a:latin typeface="JUZ40 FONTS Medium" panose="020B0003030000020004" pitchFamily="34" charset="0"/>
              </a:rPr>
              <a:t>7</a:t>
            </a:r>
            <a:r>
              <a:rPr lang="kk-KZ" sz="3600" dirty="0">
                <a:latin typeface="JUZ40 FONTS Medium" panose="020B0003030000020004" pitchFamily="34" charset="0"/>
              </a:rPr>
              <a:t>. Газдар қоспасы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en-US" sz="3600" dirty="0">
                <a:latin typeface="JUZ40 FONTS Medium" panose="020B0003030000020004" pitchFamily="34" charset="0"/>
              </a:rPr>
              <a:t>A</a:t>
            </a:r>
            <a:r>
              <a:rPr lang="ru-KZ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су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en-US" sz="3600" dirty="0">
                <a:latin typeface="JUZ40 FONTS Medium" panose="020B0003030000020004" pitchFamily="34" charset="0"/>
              </a:rPr>
              <a:t>B</a:t>
            </a:r>
            <a:r>
              <a:rPr lang="ru-KZ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метан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en-US" sz="3600" dirty="0">
                <a:latin typeface="JUZ40 FONTS Medium" panose="020B0003030000020004" pitchFamily="34" charset="0"/>
              </a:rPr>
              <a:t>C</a:t>
            </a:r>
            <a:r>
              <a:rPr lang="ru-KZ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иіс газы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D</a:t>
            </a:r>
            <a:r>
              <a:rPr lang="ru-KZ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синтез</a:t>
            </a:r>
            <a:r>
              <a:rPr lang="ru-KZ" sz="3600" dirty="0">
                <a:latin typeface="JUZ40 FONTS Medium" panose="020B0003030000020004" pitchFamily="34" charset="0"/>
              </a:rPr>
              <a:t>-</a:t>
            </a:r>
            <a:r>
              <a:rPr lang="kk-KZ" sz="3600" dirty="0">
                <a:latin typeface="JUZ40 FONTS Medium" panose="020B0003030000020004" pitchFamily="34" charset="0"/>
              </a:rPr>
              <a:t>газ</a:t>
            </a:r>
            <a:endParaRPr lang="ru-KZ" sz="36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575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55C9-C995-84E0-EDBB-198760B9B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416C13-096B-E536-5B9D-04707D5CA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15F3AD-E648-E60B-E207-DCC768996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8. Физикалық қасиеті тұрақты зат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A</a:t>
            </a:r>
            <a:r>
              <a:rPr lang="kk-KZ" sz="3200" dirty="0">
                <a:latin typeface="JUZ40 FONTS Medium" panose="020B0003030000020004" pitchFamily="34" charset="0"/>
              </a:rPr>
              <a:t>) әртекті қоспа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B</a:t>
            </a:r>
            <a:r>
              <a:rPr lang="kk-KZ" sz="3200" dirty="0">
                <a:latin typeface="JUZ40 FONTS Medium" panose="020B0003030000020004" pitchFamily="34" charset="0"/>
              </a:rPr>
              <a:t>) таза зат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C) біртекті қоспа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D) қоспалар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327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5273-4E00-8823-52D6-9FB35657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25B713-3FDC-766C-81DA-B5913476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F3C254-25A2-3E0C-6E77-38F8FA90B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>
                <a:latin typeface="JUZ40 FONTS Medium" panose="020B0003030000020004" pitchFamily="34" charset="0"/>
              </a:rPr>
              <a:t>9. Келесі заттар қатарынан таза заттардың санын анықтаңыз: дистилденген су, құм, ауа, күміс, йод ерітіндісі, бұлақ суы, көз жасы, сынап, болат, топырақ, күкірт.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A</a:t>
            </a:r>
            <a:r>
              <a:rPr lang="kk-KZ" dirty="0">
                <a:latin typeface="JUZ40 FONTS Medium" panose="020B0003030000020004" pitchFamily="34" charset="0"/>
              </a:rPr>
              <a:t>) 4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B</a:t>
            </a:r>
            <a:r>
              <a:rPr lang="kk-KZ" dirty="0">
                <a:latin typeface="JUZ40 FONTS Medium" panose="020B0003030000020004" pitchFamily="34" charset="0"/>
              </a:rPr>
              <a:t>) 5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C) 6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D) 7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14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77474-9A67-08E5-F960-FDB7CBE17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70A12A-12DF-A618-8BEB-3E3A6DCA8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0B9F1D-D356-72DE-D6F9-1CD09E152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10. Гомогенді қоспаны бөлуге жатпайды: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A</a:t>
            </a:r>
            <a:r>
              <a:rPr lang="kk-KZ" sz="3200" dirty="0">
                <a:latin typeface="JUZ40 FONTS Medium" panose="020B0003030000020004" pitchFamily="34" charset="0"/>
              </a:rPr>
              <a:t>) буландыру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B</a:t>
            </a:r>
            <a:r>
              <a:rPr lang="kk-KZ" sz="3200" dirty="0">
                <a:latin typeface="JUZ40 FONTS Medium" panose="020B0003030000020004" pitchFamily="34" charset="0"/>
              </a:rPr>
              <a:t>) айдау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C) сүзу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D) дистилдеу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440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9B190-AB58-6772-64BA-87FE8B305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C5C65D-C7C0-269E-B1F7-1A3E5323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4FC9A2-B437-72F7-472F-EA77C6917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600" dirty="0">
                <a:latin typeface="JUZ40 FONTS Medium" panose="020B0003030000020004" pitchFamily="34" charset="0"/>
              </a:rPr>
              <a:t>11. Тартылыс күші әсерінен әртекті қоспадағы қатты заттар мен сұйық заттардың қабат түзіп бөлуіне негізделген бөлу әдісі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A</a:t>
            </a:r>
            <a:r>
              <a:rPr lang="kk-KZ" sz="3600" dirty="0">
                <a:latin typeface="JUZ40 FONTS Medium" panose="020B0003030000020004" pitchFamily="34" charset="0"/>
              </a:rPr>
              <a:t>) буландыру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B</a:t>
            </a:r>
            <a:r>
              <a:rPr lang="kk-KZ" sz="3600" dirty="0">
                <a:latin typeface="JUZ40 FONTS Medium" panose="020B0003030000020004" pitchFamily="34" charset="0"/>
              </a:rPr>
              <a:t>) сүзу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C) айдау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D) тұндыру</a:t>
            </a:r>
            <a:endParaRPr lang="ru-KZ" sz="36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254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5A532-E7B6-74AF-79AA-5C659E999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033B09-D427-54F7-AA42-3CB2C0851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6E318F-F4CB-B3FE-E8AA-4472A70A1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12. Гомогенді қоспаны бөлу әдістері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A</a:t>
            </a:r>
            <a:r>
              <a:rPr lang="kk-KZ" sz="3200" dirty="0">
                <a:latin typeface="JUZ40 FONTS Medium" panose="020B0003030000020004" pitchFamily="34" charset="0"/>
              </a:rPr>
              <a:t>) буландыру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B</a:t>
            </a:r>
            <a:r>
              <a:rPr lang="kk-KZ" sz="3200" dirty="0">
                <a:latin typeface="JUZ40 FONTS Medium" panose="020B0003030000020004" pitchFamily="34" charset="0"/>
              </a:rPr>
              <a:t>) сүзу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C) магнитпен бөлу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D</a:t>
            </a:r>
            <a:r>
              <a:rPr lang="ru-KZ" sz="3200" dirty="0">
                <a:latin typeface="JUZ40 FONTS Medium" panose="020B0003030000020004" pitchFamily="34" charset="0"/>
              </a:rPr>
              <a:t>) </a:t>
            </a:r>
            <a:r>
              <a:rPr lang="kk-KZ" sz="3200" dirty="0">
                <a:latin typeface="JUZ40 FONTS Medium" panose="020B0003030000020004" pitchFamily="34" charset="0"/>
              </a:rPr>
              <a:t>айдау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E</a:t>
            </a:r>
            <a:r>
              <a:rPr lang="ru-KZ" sz="3200" dirty="0">
                <a:latin typeface="JUZ40 FONTS Medium" panose="020B0003030000020004" pitchFamily="34" charset="0"/>
              </a:rPr>
              <a:t>) </a:t>
            </a:r>
            <a:r>
              <a:rPr lang="kk-KZ" sz="3200" dirty="0">
                <a:latin typeface="JUZ40 FONTS Medium" panose="020B0003030000020004" pitchFamily="34" charset="0"/>
              </a:rPr>
              <a:t>тұндыру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F</a:t>
            </a:r>
            <a:r>
              <a:rPr lang="ru-KZ" sz="3200" dirty="0">
                <a:latin typeface="JUZ40 FONTS Medium" panose="020B0003030000020004" pitchFamily="34" charset="0"/>
              </a:rPr>
              <a:t>) </a:t>
            </a:r>
            <a:r>
              <a:rPr lang="kk-KZ" sz="3200" dirty="0">
                <a:latin typeface="JUZ40 FONTS Medium" panose="020B0003030000020004" pitchFamily="34" charset="0"/>
              </a:rPr>
              <a:t>дистилдеу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793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CBA2A-CE35-CCDE-6004-B55EA3DCB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99006D-C39F-0586-E912-DF52A0130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7EED98-241B-E8C1-9D34-9511A4E29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600" dirty="0">
                <a:latin typeface="JUZ40 FONTS Medium" panose="020B0003030000020004" pitchFamily="34" charset="0"/>
              </a:rPr>
              <a:t>13. Ас тұзын судан бөліп алу үшін қолданылатын әдіс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en-US" sz="3600" dirty="0">
                <a:latin typeface="JUZ40 FONTS Medium" panose="020B0003030000020004" pitchFamily="34" charset="0"/>
              </a:rPr>
              <a:t>A</a:t>
            </a:r>
            <a:r>
              <a:rPr lang="ru-KZ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буландыру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en-US" sz="3600" dirty="0">
                <a:latin typeface="JUZ40 FONTS Medium" panose="020B0003030000020004" pitchFamily="34" charset="0"/>
              </a:rPr>
              <a:t>B</a:t>
            </a:r>
            <a:r>
              <a:rPr lang="ru-KZ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дистилдеу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en-US" sz="3600" dirty="0">
                <a:latin typeface="JUZ40 FONTS Medium" panose="020B0003030000020004" pitchFamily="34" charset="0"/>
              </a:rPr>
              <a:t>C</a:t>
            </a:r>
            <a:r>
              <a:rPr lang="ru-KZ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магнитпен бөлу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D) тұндыру</a:t>
            </a:r>
            <a:endParaRPr lang="ru-KZ" sz="36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330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74EEF-9190-9417-0464-E7687883B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9AB220-12B5-26C3-0A12-E5AA88C3D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D42D7C-39C2-7633-7B62-53C480E26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14. Қайнау температуралары әртүрлі заттарды бөлуге негізделген бөлу түрі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A</a:t>
            </a:r>
            <a:r>
              <a:rPr lang="kk-KZ" sz="3200" dirty="0">
                <a:latin typeface="JUZ40 FONTS Medium" panose="020B0003030000020004" pitchFamily="34" charset="0"/>
              </a:rPr>
              <a:t>) буландыру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B</a:t>
            </a:r>
            <a:r>
              <a:rPr lang="kk-KZ" sz="3200" dirty="0">
                <a:latin typeface="JUZ40 FONTS Medium" panose="020B0003030000020004" pitchFamily="34" charset="0"/>
              </a:rPr>
              <a:t>) магнитпен бөлу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C) айдау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D</a:t>
            </a:r>
            <a:r>
              <a:rPr lang="ru-KZ" sz="3200" dirty="0">
                <a:latin typeface="JUZ40 FONTS Medium" panose="020B0003030000020004" pitchFamily="34" charset="0"/>
              </a:rPr>
              <a:t>)</a:t>
            </a:r>
            <a:r>
              <a:rPr lang="kk-KZ" sz="3200" dirty="0">
                <a:latin typeface="JUZ40 FONTS Medium" panose="020B0003030000020004" pitchFamily="34" charset="0"/>
              </a:rPr>
              <a:t> кристалдау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E</a:t>
            </a:r>
            <a:r>
              <a:rPr lang="ru-KZ" sz="3200" dirty="0">
                <a:latin typeface="JUZ40 FONTS Medium" panose="020B0003030000020004" pitchFamily="34" charset="0"/>
              </a:rPr>
              <a:t>) </a:t>
            </a:r>
            <a:r>
              <a:rPr lang="kk-KZ" sz="3200" dirty="0">
                <a:latin typeface="JUZ40 FONTS Medium" panose="020B0003030000020004" pitchFamily="34" charset="0"/>
              </a:rPr>
              <a:t>сүзу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F</a:t>
            </a:r>
            <a:r>
              <a:rPr lang="ru-KZ" sz="3200" dirty="0">
                <a:latin typeface="JUZ40 FONTS Medium" panose="020B0003030000020004" pitchFamily="34" charset="0"/>
              </a:rPr>
              <a:t>) </a:t>
            </a:r>
            <a:r>
              <a:rPr lang="kk-KZ" sz="3200" dirty="0">
                <a:latin typeface="JUZ40 FONTS Medium" panose="020B0003030000020004" pitchFamily="34" charset="0"/>
              </a:rPr>
              <a:t>дистилдеу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784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330CF-BF69-D11A-1C38-A484B2716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3C78A4-8183-5F9D-7CC2-5B9B62902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D04431-51D3-0B41-9B09-CBAD29925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15. Керамика өндірісінде құмды саздан бөлу үшін қолданылатын бөлу әдіс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A</a:t>
            </a:r>
            <a:r>
              <a:rPr lang="kk-KZ" sz="3200" dirty="0">
                <a:latin typeface="JUZ40 FONTS Medium" panose="020B0003030000020004" pitchFamily="34" charset="0"/>
              </a:rPr>
              <a:t>) тұндыру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B</a:t>
            </a:r>
            <a:r>
              <a:rPr lang="kk-KZ" sz="3200" dirty="0">
                <a:latin typeface="JUZ40 FONTS Medium" panose="020B0003030000020004" pitchFamily="34" charset="0"/>
              </a:rPr>
              <a:t>) магнитпен бөлу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C) сүзу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D) буландыру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468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E339-4178-BC6D-A8CF-F1F73515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CE6DE5-2A9C-A7D8-A5C6-4F1AE9487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D123CE-F795-2B01-984C-AF34AD00F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600" dirty="0">
                <a:latin typeface="JUZ40 FONTS Medium" panose="020B0003030000020004" pitchFamily="34" charset="0"/>
              </a:rPr>
              <a:t>16. Магнитпен бөлуге болатын қоспа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A</a:t>
            </a:r>
            <a:r>
              <a:rPr lang="kk-KZ" sz="3600" dirty="0">
                <a:latin typeface="JUZ40 FONTS Medium" panose="020B0003030000020004" pitchFamily="34" charset="0"/>
              </a:rPr>
              <a:t>) ағаш пен құм қоспасы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B</a:t>
            </a:r>
            <a:r>
              <a:rPr lang="kk-KZ" sz="3600" dirty="0">
                <a:latin typeface="JUZ40 FONTS Medium" panose="020B0003030000020004" pitchFamily="34" charset="0"/>
              </a:rPr>
              <a:t>) су мен май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C) темір мен алюминий жаңқалары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D) шаңды ауа</a:t>
            </a:r>
            <a:endParaRPr lang="ru-KZ" sz="36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142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FBAC0-A1C4-3CDF-153F-BC2173303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C6A8AA-BE12-5A07-7803-156746152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BEB719-8C79-B9B6-954F-4B67214E0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17. Жай заттардан күрделі зат алу әдісі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A</a:t>
            </a:r>
            <a:r>
              <a:rPr lang="ru-RU" sz="3200" dirty="0">
                <a:latin typeface="JUZ40 FONTS Medium" panose="020B0003030000020004" pitchFamily="34" charset="0"/>
              </a:rPr>
              <a:t>) </a:t>
            </a:r>
            <a:r>
              <a:rPr lang="kk-KZ" sz="3200" dirty="0">
                <a:latin typeface="JUZ40 FONTS Medium" panose="020B0003030000020004" pitchFamily="34" charset="0"/>
              </a:rPr>
              <a:t>дистилляция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B</a:t>
            </a:r>
            <a:r>
              <a:rPr lang="ru-RU" sz="3200" dirty="0">
                <a:latin typeface="JUZ40 FONTS Medium" panose="020B0003030000020004" pitchFamily="34" charset="0"/>
              </a:rPr>
              <a:t>) </a:t>
            </a:r>
            <a:r>
              <a:rPr lang="kk-KZ" sz="3200" dirty="0">
                <a:latin typeface="JUZ40 FONTS Medium" panose="020B0003030000020004" pitchFamily="34" charset="0"/>
              </a:rPr>
              <a:t>анализ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C</a:t>
            </a:r>
            <a:r>
              <a:rPr lang="ru-RU" sz="3200" dirty="0">
                <a:latin typeface="JUZ40 FONTS Medium" panose="020B0003030000020004" pitchFamily="34" charset="0"/>
              </a:rPr>
              <a:t>) синтез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D</a:t>
            </a:r>
            <a:r>
              <a:rPr lang="ru-RU" sz="3200" dirty="0">
                <a:latin typeface="JUZ40 FONTS Medium" panose="020B0003030000020004" pitchFamily="34" charset="0"/>
              </a:rPr>
              <a:t>) ассоциация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253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0AAF1-3A7C-F112-48D7-8D0E727C8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74E291B-CC78-ACBE-D3B6-E4E4AB598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054C445-F741-E8B2-31E5-EF0C0315C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" y="1513114"/>
            <a:ext cx="11146971" cy="242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06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A7679-CB02-D08B-7241-406F233F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E8842D-E620-1DAC-4D5D-04D1CEFF1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B6F6E4-4133-6FEC-3D18-C1B49DEA4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07" y="1329870"/>
            <a:ext cx="10877550" cy="239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340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64EA5-7A44-21C9-D878-48D78D15F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1AD2A7-8014-0834-7CAB-3C2E67DE1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9C728D-87B0-AEDF-1EBD-3AC4D6880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latin typeface="JUZ40 FONTS Medium" panose="020B0003030000020004" pitchFamily="34" charset="0"/>
              </a:rPr>
              <a:t>18. </a:t>
            </a:r>
            <a:r>
              <a:rPr lang="kk-KZ" sz="3200" dirty="0">
                <a:latin typeface="JUZ40 FONTS Medium" panose="020B0003030000020004" pitchFamily="34" charset="0"/>
              </a:rPr>
              <a:t>Құбылыс түрлері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A) </a:t>
            </a:r>
            <a:r>
              <a:rPr lang="ru-RU" sz="3200" dirty="0" err="1">
                <a:latin typeface="JUZ40 FONTS Medium" panose="020B0003030000020004" pitchFamily="34" charset="0"/>
              </a:rPr>
              <a:t>жай</a:t>
            </a:r>
            <a:r>
              <a:rPr lang="ru-RU" sz="3200" dirty="0">
                <a:latin typeface="JUZ40 FONTS Medium" panose="020B0003030000020004" pitchFamily="34" charset="0"/>
              </a:rPr>
              <a:t> </a:t>
            </a:r>
            <a:r>
              <a:rPr lang="ru-RU" sz="3200" dirty="0" err="1">
                <a:latin typeface="JUZ40 FONTS Medium" panose="020B0003030000020004" pitchFamily="34" charset="0"/>
              </a:rPr>
              <a:t>және</a:t>
            </a:r>
            <a:r>
              <a:rPr lang="ru-RU" sz="3200" dirty="0">
                <a:latin typeface="JUZ40 FONTS Medium" panose="020B0003030000020004" pitchFamily="34" charset="0"/>
              </a:rPr>
              <a:t> </a:t>
            </a:r>
            <a:r>
              <a:rPr lang="ru-RU" sz="3200" dirty="0" err="1">
                <a:latin typeface="JUZ40 FONTS Medium" panose="020B0003030000020004" pitchFamily="34" charset="0"/>
              </a:rPr>
              <a:t>күрделі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B) </a:t>
            </a:r>
            <a:r>
              <a:rPr lang="ru-RU" sz="3200" dirty="0">
                <a:latin typeface="JUZ40 FONTS Medium" panose="020B0003030000020004" pitchFamily="34" charset="0"/>
              </a:rPr>
              <a:t>таза </a:t>
            </a:r>
            <a:r>
              <a:rPr lang="ru-RU" sz="3200" dirty="0" err="1">
                <a:latin typeface="JUZ40 FONTS Medium" panose="020B0003030000020004" pitchFamily="34" charset="0"/>
              </a:rPr>
              <a:t>және</a:t>
            </a:r>
            <a:r>
              <a:rPr lang="ru-RU" sz="3200" dirty="0">
                <a:latin typeface="JUZ40 FONTS Medium" panose="020B0003030000020004" pitchFamily="34" charset="0"/>
              </a:rPr>
              <a:t> </a:t>
            </a:r>
            <a:r>
              <a:rPr lang="ru-RU" sz="3200" dirty="0" err="1">
                <a:latin typeface="JUZ40 FONTS Medium" panose="020B0003030000020004" pitchFamily="34" charset="0"/>
              </a:rPr>
              <a:t>қоспа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C) </a:t>
            </a:r>
            <a:r>
              <a:rPr lang="ru-RU" sz="3200" dirty="0" err="1">
                <a:latin typeface="JUZ40 FONTS Medium" panose="020B0003030000020004" pitchFamily="34" charset="0"/>
              </a:rPr>
              <a:t>экзотермиялық</a:t>
            </a:r>
            <a:r>
              <a:rPr lang="ru-RU" sz="3200" dirty="0">
                <a:latin typeface="JUZ40 FONTS Medium" panose="020B0003030000020004" pitchFamily="34" charset="0"/>
              </a:rPr>
              <a:t> </a:t>
            </a:r>
            <a:r>
              <a:rPr lang="ru-RU" sz="3200" dirty="0" err="1">
                <a:latin typeface="JUZ40 FONTS Medium" panose="020B0003030000020004" pitchFamily="34" charset="0"/>
              </a:rPr>
              <a:t>және</a:t>
            </a:r>
            <a:r>
              <a:rPr lang="ru-RU" sz="3200" dirty="0">
                <a:latin typeface="JUZ40 FONTS Medium" panose="020B0003030000020004" pitchFamily="34" charset="0"/>
              </a:rPr>
              <a:t> </a:t>
            </a:r>
            <a:r>
              <a:rPr lang="ru-RU" sz="3200" dirty="0" err="1">
                <a:latin typeface="JUZ40 FONTS Medium" panose="020B0003030000020004" pitchFamily="34" charset="0"/>
              </a:rPr>
              <a:t>эндотермиялық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D) </a:t>
            </a:r>
            <a:r>
              <a:rPr lang="ru-RU" sz="3200" dirty="0" err="1">
                <a:latin typeface="JUZ40 FONTS Medium" panose="020B0003030000020004" pitchFamily="34" charset="0"/>
              </a:rPr>
              <a:t>химиялық</a:t>
            </a:r>
            <a:r>
              <a:rPr lang="ru-RU" sz="3200" dirty="0">
                <a:latin typeface="JUZ40 FONTS Medium" panose="020B0003030000020004" pitchFamily="34" charset="0"/>
              </a:rPr>
              <a:t> </a:t>
            </a:r>
            <a:r>
              <a:rPr lang="ru-RU" sz="3200" dirty="0" err="1">
                <a:latin typeface="JUZ40 FONTS Medium" panose="020B0003030000020004" pitchFamily="34" charset="0"/>
              </a:rPr>
              <a:t>және</a:t>
            </a:r>
            <a:r>
              <a:rPr lang="ru-RU" sz="3200" dirty="0">
                <a:latin typeface="JUZ40 FONTS Medium" panose="020B0003030000020004" pitchFamily="34" charset="0"/>
              </a:rPr>
              <a:t> </a:t>
            </a:r>
            <a:r>
              <a:rPr lang="ru-RU" sz="3200" dirty="0" err="1">
                <a:latin typeface="JUZ40 FONTS Medium" panose="020B0003030000020004" pitchFamily="34" charset="0"/>
              </a:rPr>
              <a:t>физикалық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747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53D38-B61C-1682-E673-4772A1F3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F7A03F-D6A6-F746-85F7-A403257A6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1EF50E-1168-0296-50B4-50D787302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latin typeface="JUZ40 FONTS Medium" panose="020B0003030000020004" pitchFamily="34" charset="0"/>
              </a:rPr>
              <a:t>19. </a:t>
            </a:r>
            <a:r>
              <a:rPr lang="kk-KZ" sz="3200" dirty="0">
                <a:latin typeface="JUZ40 FONTS Medium" panose="020B0003030000020004" pitchFamily="34" charset="0"/>
              </a:rPr>
              <a:t>Физикалық құбылыс туралы дұрыс пікірлер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A</a:t>
            </a:r>
            <a:r>
              <a:rPr lang="ru-RU" sz="3200" dirty="0">
                <a:latin typeface="JUZ40 FONTS Medium" panose="020B0003030000020004" pitchFamily="34" charset="0"/>
              </a:rPr>
              <a:t>) </a:t>
            </a:r>
            <a:r>
              <a:rPr lang="kk-KZ" sz="3200" dirty="0">
                <a:latin typeface="JUZ40 FONTS Medium" panose="020B0003030000020004" pitchFamily="34" charset="0"/>
              </a:rPr>
              <a:t>жаңа зат пайда болады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B</a:t>
            </a:r>
            <a:r>
              <a:rPr lang="ru-RU" sz="3200" dirty="0">
                <a:latin typeface="JUZ40 FONTS Medium" panose="020B0003030000020004" pitchFamily="34" charset="0"/>
              </a:rPr>
              <a:t>) </a:t>
            </a:r>
            <a:r>
              <a:rPr lang="kk-KZ" sz="3200" dirty="0">
                <a:latin typeface="JUZ40 FONTS Medium" panose="020B0003030000020004" pitchFamily="34" charset="0"/>
              </a:rPr>
              <a:t>зат молекуласы өзгереді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C) тек агрегаттық күйі өзгереді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D) зат бөлшектері ыдырап, жаңа зат түзіледі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E</a:t>
            </a:r>
            <a:r>
              <a:rPr lang="kk-KZ" sz="3200" dirty="0">
                <a:latin typeface="JUZ40 FONTS Medium" panose="020B0003030000020004" pitchFamily="34" charset="0"/>
              </a:rPr>
              <a:t>) зат молекуласы өзгермейді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F</a:t>
            </a:r>
            <a:r>
              <a:rPr lang="kk-KZ" sz="3200" dirty="0">
                <a:latin typeface="JUZ40 FONTS Medium" panose="020B0003030000020004" pitchFamily="34" charset="0"/>
              </a:rPr>
              <a:t>) жаңа зат түзілмейді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505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CB16-4AB1-A18F-AB2D-24F137188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6209BE-0568-1E92-D812-35CA5B8A9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A7CEA5-0C92-EAC4-63D7-5C21EDFA5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>
                <a:latin typeface="JUZ40 FONTS Medium" panose="020B0003030000020004" pitchFamily="34" charset="0"/>
              </a:rPr>
              <a:t>20. Суды буландырған кезде болатын өзгерістер 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A</a:t>
            </a:r>
            <a:r>
              <a:rPr lang="kk-KZ" dirty="0">
                <a:latin typeface="JUZ40 FONTS Medium" panose="020B0003030000020004" pitchFamily="34" charset="0"/>
              </a:rPr>
              <a:t>) жылу бөлінеді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B</a:t>
            </a:r>
            <a:r>
              <a:rPr lang="kk-KZ" dirty="0">
                <a:latin typeface="JUZ40 FONTS Medium" panose="020B0003030000020004" pitchFamily="34" charset="0"/>
              </a:rPr>
              <a:t>) айырылу реакциясы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C) жылу сіңіріледі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D) молекулааралық байланыстар үзіледі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E</a:t>
            </a:r>
            <a:r>
              <a:rPr lang="kk-KZ" dirty="0">
                <a:latin typeface="JUZ40 FONTS Medium" panose="020B0003030000020004" pitchFamily="34" charset="0"/>
              </a:rPr>
              <a:t>) химиялық реакция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F</a:t>
            </a:r>
            <a:r>
              <a:rPr lang="kk-KZ" dirty="0">
                <a:latin typeface="JUZ40 FONTS Medium" panose="020B0003030000020004" pitchFamily="34" charset="0"/>
              </a:rPr>
              <a:t>) физикалық құбылыс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695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F31A-A52C-1AEF-A9F7-776E4AA37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D8A920-B544-994F-79AD-C6350577A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B28F06C-603A-3E79-A716-0E3C75444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>
                <a:latin typeface="JUZ40 FONTS Medium" panose="020B0003030000020004" pitchFamily="34" charset="0"/>
              </a:rPr>
              <a:t>21. Химиялық құбылыс белгілері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A</a:t>
            </a:r>
            <a:r>
              <a:rPr lang="kk-KZ" dirty="0">
                <a:latin typeface="JUZ40 FONTS Medium" panose="020B0003030000020004" pitchFamily="34" charset="0"/>
              </a:rPr>
              <a:t>) агрегаттық күйдің өзгеруі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B</a:t>
            </a:r>
            <a:r>
              <a:rPr lang="kk-KZ" dirty="0">
                <a:latin typeface="JUZ40 FONTS Medium" panose="020B0003030000020004" pitchFamily="34" charset="0"/>
              </a:rPr>
              <a:t>) иіс бөлінуі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C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kk-KZ" dirty="0">
                <a:latin typeface="JUZ40 FONTS Medium" panose="020B0003030000020004" pitchFamily="34" charset="0"/>
              </a:rPr>
              <a:t>жаңа зат пайда болады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D) балқуы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E</a:t>
            </a:r>
            <a:r>
              <a:rPr lang="kk-KZ" dirty="0">
                <a:latin typeface="JUZ40 FONTS Medium" panose="020B0003030000020004" pitchFamily="34" charset="0"/>
              </a:rPr>
              <a:t>) жылу бөлінуі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F</a:t>
            </a:r>
            <a:r>
              <a:rPr lang="kk-KZ" dirty="0">
                <a:latin typeface="JUZ40 FONTS Medium" panose="020B0003030000020004" pitchFamily="34" charset="0"/>
              </a:rPr>
              <a:t>) молекулалардың өзгермеуі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3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D3F9-C533-3D11-68DB-9123D09A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BD7D66-5320-1011-C569-BE91D04C9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5115C7-1EAA-1F15-A1F8-784B43839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22. Келесі процестердің ішінен химиялық құбылыс саны: қалыптау, кесу, жану, біріктіру, балқу, тотығу, түс өзгеру, құю, тұнба түзілуі, желімдеу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A</a:t>
            </a:r>
            <a:r>
              <a:rPr lang="kk-KZ" sz="3200" dirty="0">
                <a:latin typeface="JUZ40 FONTS Medium" panose="020B0003030000020004" pitchFamily="34" charset="0"/>
              </a:rPr>
              <a:t>) 3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B</a:t>
            </a:r>
            <a:r>
              <a:rPr lang="kk-KZ" sz="3200" dirty="0">
                <a:latin typeface="JUZ40 FONTS Medium" panose="020B0003030000020004" pitchFamily="34" charset="0"/>
              </a:rPr>
              <a:t>) 4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C) 5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D) 6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427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D2F30-E4BC-1330-8FB8-F3000525C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CC12D4-C56F-F55F-96DE-1F676D6F2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D0CBAD-C04F-CBEC-13D8-C1F5B5BC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23. Физикалық құбылыстарға жатады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A</a:t>
            </a:r>
            <a:r>
              <a:rPr lang="kk-KZ" sz="3200" dirty="0">
                <a:latin typeface="JUZ40 FONTS Medium" panose="020B0003030000020004" pitchFamily="34" charset="0"/>
              </a:rPr>
              <a:t>) судың булануы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B</a:t>
            </a:r>
            <a:r>
              <a:rPr lang="kk-KZ" sz="3200" dirty="0">
                <a:latin typeface="JUZ40 FONTS Medium" panose="020B0003030000020004" pitchFamily="34" charset="0"/>
              </a:rPr>
              <a:t>) жапырақтың шіруі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C) бұлттың түзілуі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D) шаштың ағаруы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E</a:t>
            </a:r>
            <a:r>
              <a:rPr lang="kk-KZ" sz="3200" dirty="0">
                <a:latin typeface="JUZ40 FONTS Medium" panose="020B0003030000020004" pitchFamily="34" charset="0"/>
              </a:rPr>
              <a:t>) электр шамындағы қыл сымның қызаруы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F</a:t>
            </a:r>
            <a:r>
              <a:rPr lang="kk-KZ" sz="3200" dirty="0">
                <a:latin typeface="JUZ40 FONTS Medium" panose="020B0003030000020004" pitchFamily="34" charset="0"/>
              </a:rPr>
              <a:t>) табадағы тамақтың күюі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115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6D87B-057C-8C2D-6ED7-705045BB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B07B5A-CC90-44E0-665D-A4063831A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9B375E-1BA8-A131-553A-CE81A6563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2800" dirty="0">
                <a:latin typeface="JUZ40 FONTS Medium" panose="020B0003030000020004" pitchFamily="34" charset="0"/>
              </a:rPr>
              <a:t>24. Химиялық құбылыстарға жатады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 err="1">
                <a:latin typeface="JUZ40 FONTS Medium" panose="020B0003030000020004" pitchFamily="34" charset="0"/>
              </a:rPr>
              <a:t>A</a:t>
            </a:r>
            <a:r>
              <a:rPr lang="kk-KZ" sz="2800" dirty="0">
                <a:latin typeface="JUZ40 FONTS Medium" panose="020B0003030000020004" pitchFamily="34" charset="0"/>
              </a:rPr>
              <a:t>) алюминийдің балқуы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 err="1">
                <a:latin typeface="JUZ40 FONTS Medium" panose="020B0003030000020004" pitchFamily="34" charset="0"/>
              </a:rPr>
              <a:t>B</a:t>
            </a:r>
            <a:r>
              <a:rPr lang="kk-KZ" sz="2800" dirty="0">
                <a:latin typeface="JUZ40 FONTS Medium" panose="020B0003030000020004" pitchFamily="34" charset="0"/>
              </a:rPr>
              <a:t>) темірдің тот басуы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>
                <a:latin typeface="JUZ40 FONTS Medium" panose="020B0003030000020004" pitchFamily="34" charset="0"/>
              </a:rPr>
              <a:t>C) күміс заттардың қараюы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>
                <a:latin typeface="JUZ40 FONTS Medium" panose="020B0003030000020004" pitchFamily="34" charset="0"/>
              </a:rPr>
              <a:t>D) судың қатуы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 err="1">
                <a:latin typeface="JUZ40 FONTS Medium" panose="020B0003030000020004" pitchFamily="34" charset="0"/>
              </a:rPr>
              <a:t>E</a:t>
            </a:r>
            <a:r>
              <a:rPr lang="kk-KZ" sz="2800" dirty="0">
                <a:latin typeface="JUZ40 FONTS Medium" panose="020B0003030000020004" pitchFamily="34" charset="0"/>
              </a:rPr>
              <a:t>) майдың сумен араласуы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 err="1">
                <a:latin typeface="JUZ40 FONTS Medium" panose="020B0003030000020004" pitchFamily="34" charset="0"/>
              </a:rPr>
              <a:t>F</a:t>
            </a:r>
            <a:r>
              <a:rPr lang="kk-KZ" sz="2800" dirty="0">
                <a:latin typeface="JUZ40 FONTS Medium" panose="020B0003030000020004" pitchFamily="34" charset="0"/>
              </a:rPr>
              <a:t>) сүттің ашуы</a:t>
            </a:r>
            <a:endParaRPr lang="ru-KZ" sz="28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380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B2E17-C622-05A4-1185-9176520BF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E7041C-2068-7D03-67DC-D6243CAAD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BBE7FA-6168-43EA-13D1-A1CF657C6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25. Химиялық реакция жүру үшін қажет емес шарт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A</a:t>
            </a:r>
            <a:r>
              <a:rPr lang="kk-KZ" sz="3200" dirty="0">
                <a:latin typeface="JUZ40 FONTS Medium" panose="020B0003030000020004" pitchFamily="34" charset="0"/>
              </a:rPr>
              <a:t>) заттарды тығыз жанастыру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B</a:t>
            </a:r>
            <a:r>
              <a:rPr lang="kk-KZ" sz="3200" dirty="0">
                <a:latin typeface="JUZ40 FONTS Medium" panose="020B0003030000020004" pitchFamily="34" charset="0"/>
              </a:rPr>
              <a:t>) ұсақтау не еріту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C</a:t>
            </a:r>
            <a:r>
              <a:rPr lang="ru-RU" sz="3200" dirty="0">
                <a:latin typeface="JUZ40 FONTS Medium" panose="020B0003030000020004" pitchFamily="34" charset="0"/>
              </a:rPr>
              <a:t>) </a:t>
            </a:r>
            <a:r>
              <a:rPr lang="kk-KZ" sz="3200" dirty="0">
                <a:latin typeface="JUZ40 FONTS Medium" panose="020B0003030000020004" pitchFamily="34" charset="0"/>
              </a:rPr>
              <a:t>қыздыру не жарық беру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D</a:t>
            </a:r>
            <a:r>
              <a:rPr lang="ru-RU" sz="3200" dirty="0">
                <a:latin typeface="JUZ40 FONTS Medium" panose="020B0003030000020004" pitchFamily="34" charset="0"/>
              </a:rPr>
              <a:t>) </a:t>
            </a:r>
            <a:r>
              <a:rPr lang="kk-KZ" sz="3200" dirty="0">
                <a:latin typeface="JUZ40 FONTS Medium" panose="020B0003030000020004" pitchFamily="34" charset="0"/>
              </a:rPr>
              <a:t>ингибитор қолдану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499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E02F-EA21-12C8-4225-9DA65139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867CE8-96C5-8CC8-E38A-7D2556D12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24D33F-0034-2ED0-7D08-3C2020DB9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26. Қыздыру тоқтатылған кезде химиялық реакция да тоқтайтын құбылыс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A</a:t>
            </a:r>
            <a:r>
              <a:rPr lang="kk-KZ" sz="3200" dirty="0">
                <a:latin typeface="JUZ40 FONTS Medium" panose="020B0003030000020004" pitchFamily="34" charset="0"/>
              </a:rPr>
              <a:t>) қантты айыру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 err="1">
                <a:latin typeface="JUZ40 FONTS Medium" panose="020B0003030000020004" pitchFamily="34" charset="0"/>
              </a:rPr>
              <a:t>B</a:t>
            </a:r>
            <a:r>
              <a:rPr lang="kk-KZ" sz="3200" dirty="0">
                <a:latin typeface="JUZ40 FONTS Medium" panose="020B0003030000020004" pitchFamily="34" charset="0"/>
              </a:rPr>
              <a:t>) көмірдің жануы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C) әктің сөнуі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kk-KZ" sz="3200" dirty="0">
                <a:latin typeface="JUZ40 FONTS Medium" panose="020B0003030000020004" pitchFamily="34" charset="0"/>
              </a:rPr>
              <a:t>D) темірдің таттануы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5612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CAF7E-2940-96E0-A818-232E507D5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C2DEE6-5058-F5B7-A2BB-45523AD39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014C72-AFF4-6F2A-DBC0-9737C90936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2800" dirty="0">
                <a:latin typeface="JUZ40 FONTS Medium" panose="020B0003030000020004" pitchFamily="34" charset="0"/>
              </a:rPr>
              <a:t>27. Тұнба түзілетін құбылыс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 err="1">
                <a:latin typeface="JUZ40 FONTS Medium" panose="020B0003030000020004" pitchFamily="34" charset="0"/>
              </a:rPr>
              <a:t>A</a:t>
            </a:r>
            <a:r>
              <a:rPr lang="kk-KZ" sz="2800" dirty="0">
                <a:latin typeface="JUZ40 FONTS Medium" panose="020B0003030000020004" pitchFamily="34" charset="0"/>
              </a:rPr>
              <a:t>) </a:t>
            </a:r>
            <a:r>
              <a:rPr lang="kk-KZ" sz="2800" dirty="0" err="1">
                <a:latin typeface="JUZ40 FONTS Medium" panose="020B0003030000020004" pitchFamily="34" charset="0"/>
              </a:rPr>
              <a:t>бенгаль</a:t>
            </a:r>
            <a:r>
              <a:rPr lang="kk-KZ" sz="2800" dirty="0">
                <a:latin typeface="JUZ40 FONTS Medium" panose="020B0003030000020004" pitchFamily="34" charset="0"/>
              </a:rPr>
              <a:t> шырағының жануы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 err="1">
                <a:latin typeface="JUZ40 FONTS Medium" panose="020B0003030000020004" pitchFamily="34" charset="0"/>
              </a:rPr>
              <a:t>B</a:t>
            </a:r>
            <a:r>
              <a:rPr lang="kk-KZ" sz="2800" dirty="0">
                <a:latin typeface="JUZ40 FONTS Medium" panose="020B0003030000020004" pitchFamily="34" charset="0"/>
              </a:rPr>
              <a:t>) сүттің ашуы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>
                <a:latin typeface="JUZ40 FONTS Medium" panose="020B0003030000020004" pitchFamily="34" charset="0"/>
              </a:rPr>
              <a:t>C) ас содасы сірке суымен </a:t>
            </a:r>
            <a:r>
              <a:rPr lang="kk-KZ" sz="2800" dirty="0" err="1">
                <a:latin typeface="JUZ40 FONTS Medium" panose="020B0003030000020004" pitchFamily="34" charset="0"/>
              </a:rPr>
              <a:t>бейтараптануы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>
                <a:latin typeface="JUZ40 FONTS Medium" panose="020B0003030000020004" pitchFamily="34" charset="0"/>
              </a:rPr>
              <a:t>D) әктастың ыдырауы</a:t>
            </a:r>
            <a:endParaRPr lang="ru-KZ" sz="28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64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D509-2069-95B2-8CD1-5F3657E2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EB89C7-74B1-544C-4A68-E2487FF36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284BE7-2BF7-D9E2-CCD6-D73ED01E7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>
                <a:latin typeface="JUZ40 FONTS Medium" panose="020B0003030000020004" pitchFamily="34" charset="0"/>
              </a:rPr>
              <a:t>28. Карамель жасауға негізделген нұсқаулық бойынша жүретін процесті сипаттаңыз.</a:t>
            </a:r>
            <a:br>
              <a:rPr lang="kk-KZ" dirty="0">
                <a:latin typeface="JUZ40 FONTS Medium" panose="020B0003030000020004" pitchFamily="34" charset="0"/>
              </a:rPr>
            </a:br>
            <a:r>
              <a:rPr lang="kk-KZ" dirty="0">
                <a:latin typeface="JUZ40 FONTS Medium" panose="020B0003030000020004" pitchFamily="34" charset="0"/>
              </a:rPr>
              <a:t>Қасыққа қант түйірлерін салып қыздырыңыз. Алдымен ол балқиды. Қыздыруды ары қарай жалғастырғаннан кейін қанттың түсі қоңырқай тартты. Карамель осы әдіспен алынады.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A</a:t>
            </a:r>
            <a:r>
              <a:rPr lang="kk-KZ" dirty="0">
                <a:latin typeface="JUZ40 FONTS Medium" panose="020B0003030000020004" pitchFamily="34" charset="0"/>
              </a:rPr>
              <a:t>) Карамельдің алынуы тек химиялық процесс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B</a:t>
            </a:r>
            <a:r>
              <a:rPr lang="kk-KZ" dirty="0">
                <a:latin typeface="JUZ40 FONTS Medium" panose="020B0003030000020004" pitchFamily="34" charset="0"/>
              </a:rPr>
              <a:t>) Карамельдің алынуы тек физикалық процесс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C) бастапқысы химиялық, екіншісі физикалық процесс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D) бастапқысы физикалық, екіншісі химиялық процесс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6572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38F12-7256-8093-AF59-105E86CD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14EF76-B171-BBC5-EFAA-5AD2EF36D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7C6405-2349-C222-A4CF-579FABD90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>
                <a:latin typeface="JUZ40 FONTS Medium" panose="020B0003030000020004" pitchFamily="34" charset="0"/>
              </a:rPr>
              <a:t>29. Заттардың қатты, сұйық және газ күйлері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A</a:t>
            </a:r>
            <a:r>
              <a:rPr lang="kk-KZ" dirty="0">
                <a:latin typeface="JUZ40 FONTS Medium" panose="020B0003030000020004" pitchFamily="34" charset="0"/>
              </a:rPr>
              <a:t>) физикалық күй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B</a:t>
            </a:r>
            <a:r>
              <a:rPr lang="kk-KZ" dirty="0">
                <a:latin typeface="JUZ40 FONTS Medium" panose="020B0003030000020004" pitchFamily="34" charset="0"/>
              </a:rPr>
              <a:t>) химиялық күй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C) агрегаттық күй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D) молекулалық күй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005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3F7F6-210E-EDBD-9F14-680D3FA3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858060-084F-C434-C280-0A481475C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3F9077-90E1-1E83-73E2-F19B761A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>
                <a:latin typeface="JUZ40 FONTS Medium" panose="020B0003030000020004" pitchFamily="34" charset="0"/>
              </a:rPr>
              <a:t>30. Суретте су молекулалары әр түрлі агрегаттық күйде көрсетілген. </a:t>
            </a:r>
            <a:r>
              <a:rPr lang="en-US" dirty="0">
                <a:latin typeface="JUZ40 FONTS Medium" panose="020B0003030000020004" pitchFamily="34" charset="0"/>
              </a:rPr>
              <a:t>“</a:t>
            </a:r>
            <a:r>
              <a:rPr lang="kk-KZ" dirty="0" err="1">
                <a:latin typeface="JUZ40 FONTS Medium" panose="020B0003030000020004" pitchFamily="34" charset="0"/>
              </a:rPr>
              <a:t>ә</a:t>
            </a:r>
            <a:r>
              <a:rPr lang="en-US" dirty="0">
                <a:latin typeface="JUZ40 FONTS Medium" panose="020B0003030000020004" pitchFamily="34" charset="0"/>
              </a:rPr>
              <a:t>”</a:t>
            </a:r>
            <a:r>
              <a:rPr lang="kk-KZ" dirty="0">
                <a:latin typeface="JUZ40 FONTS Medium" panose="020B0003030000020004" pitchFamily="34" charset="0"/>
              </a:rPr>
              <a:t> суретіне сәйкес келетін тұжырым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 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A</a:t>
            </a:r>
            <a:r>
              <a:rPr lang="kk-KZ" dirty="0">
                <a:latin typeface="JUZ40 FONTS Medium" panose="020B0003030000020004" pitchFamily="34" charset="0"/>
              </a:rPr>
              <a:t>) пішінін сақтамайды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B</a:t>
            </a:r>
            <a:r>
              <a:rPr lang="kk-KZ" dirty="0">
                <a:latin typeface="JUZ40 FONTS Medium" panose="020B0003030000020004" pitchFamily="34" charset="0"/>
              </a:rPr>
              <a:t>) көлемі тұрақты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C) сығу қиын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D) пішінін сақтайды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E</a:t>
            </a:r>
            <a:r>
              <a:rPr lang="kk-KZ" dirty="0">
                <a:latin typeface="JUZ40 FONTS Medium" panose="020B0003030000020004" pitchFamily="34" charset="0"/>
              </a:rPr>
              <a:t>) көлемін сақтамайды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F</a:t>
            </a:r>
            <a:r>
              <a:rPr lang="kk-KZ" dirty="0">
                <a:latin typeface="JUZ40 FONTS Medium" panose="020B0003030000020004" pitchFamily="34" charset="0"/>
              </a:rPr>
              <a:t>) оңай сығылады</a:t>
            </a:r>
            <a:endParaRPr lang="ru-KZ" dirty="0">
              <a:latin typeface="JUZ40 FONTS Medium" panose="020B00030300000200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9B96134-C1BC-0C6B-B351-CAB25E889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987" y="2474754"/>
            <a:ext cx="5619841" cy="311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81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1A90F-AB82-B4B6-3363-98A96319A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52504D-D56F-6F76-ECC3-286F2FD3C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B9BD866A-2F9B-0038-D114-6391D99813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841628-B22C-29DC-52DA-95E50C7B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05" y="1393371"/>
            <a:ext cx="10094790" cy="253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01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197D-6086-4789-6952-6BA89E504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8DADEB-C3C8-8D0A-AEC2-B4AEF6825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19851A-5AFC-791C-B3F7-264BBE46D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ru-RU" dirty="0">
                <a:latin typeface="JUZ40 FONTS Medium" panose="020B0003030000020004" pitchFamily="34" charset="0"/>
              </a:rPr>
              <a:t>36. </a:t>
            </a:r>
            <a:r>
              <a:rPr lang="kk-KZ" dirty="0">
                <a:latin typeface="JUZ40 FONTS Medium" panose="020B0003030000020004" pitchFamily="34" charset="0"/>
              </a:rPr>
              <a:t>Сублимация процесі туралы дұрыс тұжырым(дар)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A</a:t>
            </a:r>
            <a:r>
              <a:rPr lang="kk-KZ" dirty="0">
                <a:latin typeface="JUZ40 FONTS Medium" panose="020B0003030000020004" pitchFamily="34" charset="0"/>
              </a:rPr>
              <a:t>) қаттыдан сұйыққа айналу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B</a:t>
            </a:r>
            <a:r>
              <a:rPr lang="kk-KZ" dirty="0">
                <a:latin typeface="JUZ40 FONTS Medium" panose="020B0003030000020004" pitchFamily="34" charset="0"/>
              </a:rPr>
              <a:t>) сұйықтан қаттыға айналу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C) қаттыдан газға айналу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D) газдан қаттыға айналу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E</a:t>
            </a:r>
            <a:r>
              <a:rPr lang="kk-KZ" dirty="0">
                <a:latin typeface="JUZ40 FONTS Medium" panose="020B0003030000020004" pitchFamily="34" charset="0"/>
              </a:rPr>
              <a:t>) жылу бөледі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F</a:t>
            </a:r>
            <a:r>
              <a:rPr lang="kk-KZ" dirty="0">
                <a:latin typeface="JUZ40 FONTS Medium" panose="020B0003030000020004" pitchFamily="34" charset="0"/>
              </a:rPr>
              <a:t>) экзотермиялық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7964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A0A68-69A3-487B-247C-93D50CE32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BB7830-8437-6300-9EDB-621D35620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178437-759E-EC98-2D52-512721636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>
                <a:latin typeface="JUZ40 FONTS Medium" panose="020B0003030000020004" pitchFamily="34" charset="0"/>
              </a:rPr>
              <a:t>37. Жылу сіңіре жүретін процес(тер)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A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ru-RU" dirty="0" err="1">
                <a:latin typeface="JUZ40 FONTS Medium" panose="020B0003030000020004" pitchFamily="34" charset="0"/>
              </a:rPr>
              <a:t>балқу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B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kk-KZ" dirty="0">
                <a:latin typeface="JUZ40 FONTS Medium" panose="020B0003030000020004" pitchFamily="34" charset="0"/>
              </a:rPr>
              <a:t>сублимация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C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kk-KZ" dirty="0" err="1">
                <a:latin typeface="JUZ40 FONTS Medium" panose="020B0003030000020004" pitchFamily="34" charset="0"/>
              </a:rPr>
              <a:t>десублимация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D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kk-KZ" dirty="0">
                <a:latin typeface="JUZ40 FONTS Medium" panose="020B0003030000020004" pitchFamily="34" charset="0"/>
              </a:rPr>
              <a:t>булану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E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kk-KZ" dirty="0">
                <a:latin typeface="JUZ40 FONTS Medium" panose="020B0003030000020004" pitchFamily="34" charset="0"/>
              </a:rPr>
              <a:t>кристалдану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F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ru-RU" dirty="0" err="1">
                <a:latin typeface="JUZ40 FONTS Medium" panose="020B0003030000020004" pitchFamily="34" charset="0"/>
              </a:rPr>
              <a:t>конденсациялану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336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21EB1-40A1-964A-5E0E-7A6236C7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901A87-9F07-D195-CF7C-61CCC36FE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FE6B61-BA46-5764-2B1D-16AB54AE9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>
                <a:latin typeface="JUZ40 FONTS Medium" panose="020B0003030000020004" pitchFamily="34" charset="0"/>
              </a:rPr>
              <a:t>38. Келесі процестің атауы: жуынатын бөлмедегі шынының беті суланды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A</a:t>
            </a:r>
            <a:r>
              <a:rPr lang="kk-KZ" dirty="0">
                <a:latin typeface="JUZ40 FONTS Medium" panose="020B0003030000020004" pitchFamily="34" charset="0"/>
              </a:rPr>
              <a:t>) булану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B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kk-KZ" dirty="0">
                <a:latin typeface="JUZ40 FONTS Medium" panose="020B0003030000020004" pitchFamily="34" charset="0"/>
              </a:rPr>
              <a:t>балқу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C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kk-KZ" dirty="0">
                <a:latin typeface="JUZ40 FONTS Medium" panose="020B0003030000020004" pitchFamily="34" charset="0"/>
              </a:rPr>
              <a:t>кристалдану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D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kk-KZ" dirty="0">
                <a:latin typeface="JUZ40 FONTS Medium" panose="020B0003030000020004" pitchFamily="34" charset="0"/>
              </a:rPr>
              <a:t>конденсация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9559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DE4F1-30B0-2E7B-A369-B5B6518C4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82CFA3-8D29-FFBD-5D9A-6AE6741EE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1585A8-E19B-149A-3892-D700582D4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ru-RU" sz="3600" dirty="0">
                <a:latin typeface="JUZ40 FONTS Medium" panose="020B0003030000020004" pitchFamily="34" charset="0"/>
              </a:rPr>
              <a:t>1. </a:t>
            </a:r>
            <a:r>
              <a:rPr lang="kk-KZ" sz="3600" dirty="0">
                <a:latin typeface="JUZ40 FONTS Medium" panose="020B0003030000020004" pitchFamily="34" charset="0"/>
              </a:rPr>
              <a:t>Ең оңай балқитын элемент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en-US" sz="3600" dirty="0">
                <a:latin typeface="JUZ40 FONTS Medium" panose="020B0003030000020004" pitchFamily="34" charset="0"/>
              </a:rPr>
              <a:t>A</a:t>
            </a:r>
            <a:r>
              <a:rPr lang="ru-RU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вольфрам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en-US" sz="3600" dirty="0">
                <a:latin typeface="JUZ40 FONTS Medium" panose="020B0003030000020004" pitchFamily="34" charset="0"/>
              </a:rPr>
              <a:t>B</a:t>
            </a:r>
            <a:r>
              <a:rPr lang="ru-RU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сутек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en-US" sz="3600" dirty="0">
                <a:latin typeface="JUZ40 FONTS Medium" panose="020B0003030000020004" pitchFamily="34" charset="0"/>
              </a:rPr>
              <a:t>C</a:t>
            </a:r>
            <a:r>
              <a:rPr lang="ru-RU" sz="3600" dirty="0">
                <a:latin typeface="JUZ40 FONTS Medium" panose="020B0003030000020004" pitchFamily="34" charset="0"/>
              </a:rPr>
              <a:t>) </a:t>
            </a:r>
            <a:r>
              <a:rPr lang="kk-KZ" sz="3600" dirty="0">
                <a:latin typeface="JUZ40 FONTS Medium" panose="020B0003030000020004" pitchFamily="34" charset="0"/>
              </a:rPr>
              <a:t>гелий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D) сынап</a:t>
            </a:r>
            <a:endParaRPr lang="ru-KZ" sz="36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15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F5E30-9E1A-C11D-CC30-5B7A3BCB1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D7D6B1-EB96-EC16-BEA3-520005AC9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7C34CB-F721-FDF1-794A-07CCEDE9C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2. Ең оңай балқитын металлдың реттік номері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A</a:t>
            </a:r>
            <a:r>
              <a:rPr lang="ru-RU" sz="3200" dirty="0">
                <a:latin typeface="JUZ40 FONTS Medium" panose="020B0003030000020004" pitchFamily="34" charset="0"/>
              </a:rPr>
              <a:t>) 80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B</a:t>
            </a:r>
            <a:r>
              <a:rPr lang="ru-RU" sz="3200" dirty="0">
                <a:latin typeface="JUZ40 FONTS Medium" panose="020B0003030000020004" pitchFamily="34" charset="0"/>
              </a:rPr>
              <a:t>) 74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C</a:t>
            </a:r>
            <a:r>
              <a:rPr lang="ru-RU" sz="3200" dirty="0">
                <a:latin typeface="JUZ40 FONTS Medium" panose="020B0003030000020004" pitchFamily="34" charset="0"/>
              </a:rPr>
              <a:t>) 4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D</a:t>
            </a:r>
            <a:r>
              <a:rPr lang="ru-RU" sz="3200" dirty="0">
                <a:latin typeface="JUZ40 FONTS Medium" panose="020B0003030000020004" pitchFamily="34" charset="0"/>
              </a:rPr>
              <a:t>) 29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57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1B60D-DFE7-73DD-06EE-9D928CB22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D78824-8D31-589C-BC3C-EE3A4B9DC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8FFEDD-8C65-910F-C029-A0A05EB2D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ru-RU" sz="3200" dirty="0">
                <a:latin typeface="JUZ40 FONTS Medium" panose="020B0003030000020004" pitchFamily="34" charset="0"/>
              </a:rPr>
              <a:t>3. </a:t>
            </a:r>
            <a:r>
              <a:rPr lang="kk-KZ" sz="3200" dirty="0">
                <a:latin typeface="JUZ40 FONTS Medium" panose="020B0003030000020004" pitchFamily="34" charset="0"/>
              </a:rPr>
              <a:t>Қайнау температурасы ең жоғары элемент (</a:t>
            </a:r>
            <a:r>
              <a:rPr lang="en-US" sz="3200" dirty="0">
                <a:latin typeface="JUZ40 FONTS Medium" panose="020B0003030000020004" pitchFamily="34" charset="0"/>
              </a:rPr>
              <a:t>t</a:t>
            </a:r>
            <a:r>
              <a:rPr lang="en-US" sz="3200" baseline="30000" dirty="0">
                <a:latin typeface="JUZ40 FONTS Medium" panose="020B0003030000020004" pitchFamily="34" charset="0"/>
              </a:rPr>
              <a:t>o</a:t>
            </a:r>
            <a:r>
              <a:rPr lang="kk-KZ" sz="3200" dirty="0">
                <a:latin typeface="JUZ40 FONTS Medium" panose="020B0003030000020004" pitchFamily="34" charset="0"/>
              </a:rPr>
              <a:t>қайнау </a:t>
            </a:r>
            <a:r>
              <a:rPr lang="ru-RU" sz="3200" dirty="0">
                <a:latin typeface="JUZ40 FONTS Medium" panose="020B0003030000020004" pitchFamily="34" charset="0"/>
              </a:rPr>
              <a:t>= 5555</a:t>
            </a:r>
            <a:r>
              <a:rPr lang="ru-RU" sz="3200" baseline="30000" dirty="0">
                <a:latin typeface="JUZ40 FONTS Medium" panose="020B0003030000020004" pitchFamily="34" charset="0"/>
              </a:rPr>
              <a:t>0</a:t>
            </a:r>
            <a:r>
              <a:rPr lang="en-US" sz="3200" dirty="0">
                <a:latin typeface="JUZ40 FONTS Medium" panose="020B0003030000020004" pitchFamily="34" charset="0"/>
              </a:rPr>
              <a:t>C</a:t>
            </a:r>
            <a:r>
              <a:rPr lang="kk-KZ" sz="3200" dirty="0">
                <a:latin typeface="JUZ40 FONTS Medium" panose="020B0003030000020004" pitchFamily="34" charset="0"/>
              </a:rPr>
              <a:t>)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A</a:t>
            </a:r>
            <a:r>
              <a:rPr lang="ru-RU" sz="3200" dirty="0">
                <a:latin typeface="JUZ40 FONTS Medium" panose="020B0003030000020004" pitchFamily="34" charset="0"/>
              </a:rPr>
              <a:t>) </a:t>
            </a:r>
            <a:r>
              <a:rPr lang="en-US" sz="3200" dirty="0">
                <a:latin typeface="JUZ40 FONTS Medium" panose="020B0003030000020004" pitchFamily="34" charset="0"/>
              </a:rPr>
              <a:t>Cr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B</a:t>
            </a:r>
            <a:r>
              <a:rPr lang="ru-RU" sz="3200" dirty="0">
                <a:latin typeface="JUZ40 FONTS Medium" panose="020B0003030000020004" pitchFamily="34" charset="0"/>
              </a:rPr>
              <a:t>) </a:t>
            </a:r>
            <a:r>
              <a:rPr lang="en-US" sz="3200" dirty="0">
                <a:latin typeface="JUZ40 FONTS Medium" panose="020B0003030000020004" pitchFamily="34" charset="0"/>
              </a:rPr>
              <a:t>W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C</a:t>
            </a:r>
            <a:r>
              <a:rPr lang="ru-RU" sz="3200" dirty="0">
                <a:latin typeface="JUZ40 FONTS Medium" panose="020B0003030000020004" pitchFamily="34" charset="0"/>
              </a:rPr>
              <a:t>) </a:t>
            </a:r>
            <a:r>
              <a:rPr lang="en-US" sz="3200" dirty="0">
                <a:latin typeface="JUZ40 FONTS Medium" panose="020B0003030000020004" pitchFamily="34" charset="0"/>
              </a:rPr>
              <a:t>H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D</a:t>
            </a:r>
            <a:r>
              <a:rPr lang="ru-RU" sz="3200" dirty="0">
                <a:latin typeface="JUZ40 FONTS Medium" panose="020B0003030000020004" pitchFamily="34" charset="0"/>
              </a:rPr>
              <a:t>) </a:t>
            </a:r>
            <a:r>
              <a:rPr lang="en-US" sz="3200" dirty="0">
                <a:latin typeface="JUZ40 FONTS Medium" panose="020B0003030000020004" pitchFamily="34" charset="0"/>
              </a:rPr>
              <a:t>He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087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C611F-959C-E4AE-E38B-4898E6179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B8D54A9-0F82-72D7-F936-B35A53A2B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6F6D51-FF97-EAD2-9092-A6643E1A2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ru-RU" sz="3200" dirty="0">
                <a:latin typeface="JUZ40 FONTS Medium" panose="020B0003030000020004" pitchFamily="34" charset="0"/>
              </a:rPr>
              <a:t>4. </a:t>
            </a:r>
            <a:r>
              <a:rPr lang="kk-KZ" sz="3200" dirty="0">
                <a:latin typeface="JUZ40 FONTS Medium" panose="020B0003030000020004" pitchFamily="34" charset="0"/>
              </a:rPr>
              <a:t>Тығыздығы ең жоғары металл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A) </a:t>
            </a:r>
            <a:r>
              <a:rPr lang="en-US" sz="3200" dirty="0" err="1">
                <a:latin typeface="JUZ40 FONTS Medium" panose="020B0003030000020004" pitchFamily="34" charset="0"/>
              </a:rPr>
              <a:t>Ir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B) Cr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C) W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D) </a:t>
            </a:r>
            <a:r>
              <a:rPr lang="en-US" sz="3200" dirty="0" err="1">
                <a:latin typeface="JUZ40 FONTS Medium" panose="020B0003030000020004" pitchFamily="34" charset="0"/>
              </a:rPr>
              <a:t>Os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7548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1FDCB-6548-F70E-D972-3B5D80D7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E1D2BE-F1EB-CA94-B159-5887BCD6A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89B401-002B-4222-7C6B-8F1E04320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Электртерістілігі</a:t>
            </a:r>
            <a:r>
              <a:rPr lang="kk-KZ" sz="3600" dirty="0">
                <a:latin typeface="JUZ40 FONTS Medium" panose="020B0003030000020004" pitchFamily="34" charset="0"/>
              </a:rPr>
              <a:t> ең жоғары элементтің қасиеті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A</a:t>
            </a:r>
            <a:r>
              <a:rPr lang="kk-KZ" sz="3600" dirty="0">
                <a:latin typeface="JUZ40 FONTS Medium" panose="020B0003030000020004" pitchFamily="34" charset="0"/>
              </a:rPr>
              <a:t>) сарғыш-жасылдау газ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B</a:t>
            </a:r>
            <a:r>
              <a:rPr lang="kk-KZ" sz="3600" dirty="0">
                <a:latin typeface="JUZ40 FONTS Medium" panose="020B0003030000020004" pitchFamily="34" charset="0"/>
              </a:rPr>
              <a:t>) жоғарғы валенттілігі VII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C) оксидтегі тотығу дәрежесі +1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>
                <a:latin typeface="JUZ40 FONTS Medium" panose="020B0003030000020004" pitchFamily="34" charset="0"/>
              </a:rPr>
              <a:t>D) молекуласында 38 </a:t>
            </a:r>
            <a:r>
              <a:rPr lang="kk-KZ" sz="3600" dirty="0" err="1">
                <a:latin typeface="JUZ40 FONTS Medium" panose="020B0003030000020004" pitchFamily="34" charset="0"/>
              </a:rPr>
              <a:t>нуклон</a:t>
            </a:r>
            <a:r>
              <a:rPr lang="kk-KZ" sz="3600" dirty="0">
                <a:latin typeface="JUZ40 FONTS Medium" panose="020B0003030000020004" pitchFamily="34" charset="0"/>
              </a:rPr>
              <a:t> бар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E</a:t>
            </a:r>
            <a:r>
              <a:rPr lang="kk-KZ" sz="3600" dirty="0">
                <a:latin typeface="JUZ40 FONTS Medium" panose="020B0003030000020004" pitchFamily="34" charset="0"/>
              </a:rPr>
              <a:t>) атомында 9 нейтрон бар</a:t>
            </a:r>
            <a:endParaRPr lang="ru-KZ" sz="3600" dirty="0">
              <a:latin typeface="JUZ40 FONTS Medium" panose="020B0003030000020004" pitchFamily="34" charset="0"/>
            </a:endParaRPr>
          </a:p>
          <a:p>
            <a:pPr algn="l"/>
            <a:r>
              <a:rPr lang="kk-KZ" sz="3600" dirty="0" err="1">
                <a:latin typeface="JUZ40 FONTS Medium" panose="020B0003030000020004" pitchFamily="34" charset="0"/>
              </a:rPr>
              <a:t>F</a:t>
            </a:r>
            <a:r>
              <a:rPr lang="kk-KZ" sz="3600" dirty="0">
                <a:latin typeface="JUZ40 FONTS Medium" panose="020B0003030000020004" pitchFamily="34" charset="0"/>
              </a:rPr>
              <a:t>) ең күшті тотықтырғыш</a:t>
            </a:r>
            <a:endParaRPr lang="ru-KZ" sz="36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240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2FA33-D596-85E3-EF1E-30E5ED8C3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D39C79-7BD4-4A4E-86E6-B1AD8EDEC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54D352-7F83-87BC-F770-9383DFCD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>
                <a:latin typeface="JUZ40 FONTS Medium" panose="020B0003030000020004" pitchFamily="34" charset="0"/>
              </a:rPr>
              <a:t>Кальций </a:t>
            </a:r>
            <a:r>
              <a:rPr lang="kk-KZ" dirty="0" err="1">
                <a:latin typeface="JUZ40 FONTS Medium" panose="020B0003030000020004" pitchFamily="34" charset="0"/>
              </a:rPr>
              <a:t>сульфиті</a:t>
            </a:r>
            <a:r>
              <a:rPr lang="kk-KZ" dirty="0">
                <a:latin typeface="JUZ40 FONTS Medium" panose="020B0003030000020004" pitchFamily="34" charset="0"/>
              </a:rPr>
              <a:t> </a:t>
            </a:r>
            <a:r>
              <a:rPr lang="kk-KZ" dirty="0" err="1">
                <a:latin typeface="JUZ40 FONTS Medium" panose="020B0003030000020004" pitchFamily="34" charset="0"/>
              </a:rPr>
              <a:t>декагидратының</a:t>
            </a:r>
            <a:r>
              <a:rPr lang="kk-KZ" dirty="0">
                <a:latin typeface="JUZ40 FONTS Medium" panose="020B0003030000020004" pitchFamily="34" charset="0"/>
              </a:rPr>
              <a:t> салыстырмалы молекулалық массасы және құрамындағы оттек пен судың массалық үлестері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A</a:t>
            </a:r>
            <a:r>
              <a:rPr lang="ru-RU" dirty="0">
                <a:latin typeface="JUZ40 FONTS Medium" panose="020B0003030000020004" pitchFamily="34" charset="0"/>
              </a:rPr>
              <a:t>) 252 </a:t>
            </a:r>
            <a:r>
              <a:rPr lang="kk-KZ" dirty="0" err="1">
                <a:latin typeface="JUZ40 FONTS Medium" panose="020B0003030000020004" pitchFamily="34" charset="0"/>
              </a:rPr>
              <a:t>г</a:t>
            </a:r>
            <a:r>
              <a:rPr lang="kk-KZ" dirty="0">
                <a:latin typeface="JUZ40 FONTS Medium" panose="020B0003030000020004" pitchFamily="34" charset="0"/>
              </a:rPr>
              <a:t>/моль 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B</a:t>
            </a:r>
            <a:r>
              <a:rPr lang="ru-RU" dirty="0">
                <a:latin typeface="JUZ40 FONTS Medium" panose="020B0003030000020004" pitchFamily="34" charset="0"/>
              </a:rPr>
              <a:t>) 316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C</a:t>
            </a:r>
            <a:r>
              <a:rPr lang="ru-RU" dirty="0">
                <a:latin typeface="JUZ40 FONTS Medium" panose="020B0003030000020004" pitchFamily="34" charset="0"/>
              </a:rPr>
              <a:t>) 300</a:t>
            </a:r>
            <a:r>
              <a:rPr lang="kk-KZ" dirty="0">
                <a:latin typeface="JUZ40 FONTS Medium" panose="020B0003030000020004" pitchFamily="34" charset="0"/>
              </a:rPr>
              <a:t> </a:t>
            </a:r>
            <a:r>
              <a:rPr lang="kk-KZ" dirty="0" err="1">
                <a:latin typeface="JUZ40 FONTS Medium" panose="020B0003030000020004" pitchFamily="34" charset="0"/>
              </a:rPr>
              <a:t>г</a:t>
            </a:r>
            <a:r>
              <a:rPr lang="kk-KZ" dirty="0">
                <a:latin typeface="JUZ40 FONTS Medium" panose="020B0003030000020004" pitchFamily="34" charset="0"/>
              </a:rPr>
              <a:t>/моль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D</a:t>
            </a:r>
            <a:r>
              <a:rPr lang="ru-RU" dirty="0">
                <a:latin typeface="JUZ40 FONTS Medium" panose="020B0003030000020004" pitchFamily="34" charset="0"/>
              </a:rPr>
              <a:t>) 252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E</a:t>
            </a:r>
            <a:r>
              <a:rPr lang="ru-RU" dirty="0">
                <a:latin typeface="JUZ40 FONTS Medium" panose="020B0003030000020004" pitchFamily="34" charset="0"/>
              </a:rPr>
              <a:t>) 316 </a:t>
            </a:r>
            <a:r>
              <a:rPr lang="kk-KZ" dirty="0" err="1">
                <a:latin typeface="JUZ40 FONTS Medium" panose="020B0003030000020004" pitchFamily="34" charset="0"/>
              </a:rPr>
              <a:t>г</a:t>
            </a:r>
            <a:r>
              <a:rPr lang="kk-KZ" dirty="0">
                <a:latin typeface="JUZ40 FONTS Medium" panose="020B0003030000020004" pitchFamily="34" charset="0"/>
              </a:rPr>
              <a:t>/моль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F</a:t>
            </a:r>
            <a:r>
              <a:rPr lang="ru-RU" dirty="0">
                <a:latin typeface="JUZ40 FONTS Medium" panose="020B0003030000020004" pitchFamily="34" charset="0"/>
              </a:rPr>
              <a:t>) 300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G</a:t>
            </a:r>
            <a:r>
              <a:rPr lang="ru-RU" dirty="0">
                <a:latin typeface="JUZ40 FONTS Medium" panose="020B0003030000020004" pitchFamily="34" charset="0"/>
              </a:rPr>
              <a:t>) 70%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H</a:t>
            </a:r>
            <a:r>
              <a:rPr lang="ru-RU" dirty="0">
                <a:latin typeface="JUZ40 FONTS Medium" panose="020B0003030000020004" pitchFamily="34" charset="0"/>
              </a:rPr>
              <a:t>) 69%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I</a:t>
            </a:r>
            <a:r>
              <a:rPr lang="ru-RU" dirty="0">
                <a:latin typeface="JUZ40 FONTS Medium" panose="020B0003030000020004" pitchFamily="34" charset="0"/>
              </a:rPr>
              <a:t>) 60%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J</a:t>
            </a:r>
            <a:r>
              <a:rPr lang="ru-RU" dirty="0">
                <a:latin typeface="JUZ40 FONTS Medium" panose="020B0003030000020004" pitchFamily="34" charset="0"/>
              </a:rPr>
              <a:t>) 59%</a:t>
            </a:r>
            <a:r>
              <a:rPr lang="ru-KZ" sz="3200" dirty="0">
                <a:effectLst/>
                <a:latin typeface="JUZ40 FONTS Medium" panose="020B0003030000020004" pitchFamily="34" charset="0"/>
              </a:rPr>
              <a:t> 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3023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2DE67-0C69-8A03-CF50-13691926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6BF5E3-B9EC-BD6D-F501-16CDC6CE4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2D7E50-33EB-A027-87EC-B79856CE1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 err="1">
                <a:latin typeface="JUZ40 FONTS Medium" panose="020B0003030000020004" pitchFamily="34" charset="0"/>
              </a:rPr>
              <a:t>Куприт</a:t>
            </a:r>
            <a:r>
              <a:rPr lang="kk-KZ" dirty="0">
                <a:latin typeface="JUZ40 FONTS Medium" panose="020B0003030000020004" pitchFamily="34" charset="0"/>
              </a:rPr>
              <a:t> құрамындағы атомдардың массалық қатынасы және қосылыстың молярлық массасы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A</a:t>
            </a:r>
            <a:r>
              <a:rPr lang="ru-RU" dirty="0">
                <a:latin typeface="JUZ40 FONTS Medium" panose="020B0003030000020004" pitchFamily="34" charset="0"/>
              </a:rPr>
              <a:t>) 80 </a:t>
            </a:r>
            <a:r>
              <a:rPr lang="kk-KZ" dirty="0" err="1">
                <a:latin typeface="JUZ40 FONTS Medium" panose="020B0003030000020004" pitchFamily="34" charset="0"/>
              </a:rPr>
              <a:t>г</a:t>
            </a:r>
            <a:r>
              <a:rPr lang="kk-KZ" dirty="0">
                <a:latin typeface="JUZ40 FONTS Medium" panose="020B0003030000020004" pitchFamily="34" charset="0"/>
              </a:rPr>
              <a:t>/моль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B</a:t>
            </a:r>
            <a:r>
              <a:rPr lang="ru-RU" dirty="0">
                <a:latin typeface="JUZ40 FONTS Medium" panose="020B0003030000020004" pitchFamily="34" charset="0"/>
              </a:rPr>
              <a:t>) 2:1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C</a:t>
            </a:r>
            <a:r>
              <a:rPr lang="ru-RU" dirty="0">
                <a:latin typeface="JUZ40 FONTS Medium" panose="020B0003030000020004" pitchFamily="34" charset="0"/>
              </a:rPr>
              <a:t>) 8:1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D</a:t>
            </a:r>
            <a:r>
              <a:rPr lang="ru-RU" dirty="0">
                <a:latin typeface="JUZ40 FONTS Medium" panose="020B0003030000020004" pitchFamily="34" charset="0"/>
              </a:rPr>
              <a:t>) 4:1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E</a:t>
            </a:r>
            <a:r>
              <a:rPr lang="ru-RU" dirty="0">
                <a:latin typeface="JUZ40 FONTS Medium" panose="020B0003030000020004" pitchFamily="34" charset="0"/>
              </a:rPr>
              <a:t>) 144 </a:t>
            </a:r>
            <a:r>
              <a:rPr lang="kk-KZ" dirty="0" err="1">
                <a:latin typeface="JUZ40 FONTS Medium" panose="020B0003030000020004" pitchFamily="34" charset="0"/>
              </a:rPr>
              <a:t>г</a:t>
            </a:r>
            <a:r>
              <a:rPr lang="kk-KZ" dirty="0">
                <a:latin typeface="JUZ40 FONTS Medium" panose="020B0003030000020004" pitchFamily="34" charset="0"/>
              </a:rPr>
              <a:t>/моль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F</a:t>
            </a:r>
            <a:r>
              <a:rPr lang="ru-RU" dirty="0">
                <a:latin typeface="JUZ40 FONTS Medium" panose="020B0003030000020004" pitchFamily="34" charset="0"/>
              </a:rPr>
              <a:t>) 96 </a:t>
            </a:r>
            <a:r>
              <a:rPr lang="kk-KZ" dirty="0" err="1">
                <a:latin typeface="JUZ40 FONTS Medium" panose="020B0003030000020004" pitchFamily="34" charset="0"/>
              </a:rPr>
              <a:t>г</a:t>
            </a:r>
            <a:r>
              <a:rPr lang="kk-KZ" dirty="0">
                <a:latin typeface="JUZ40 FONTS Medium" panose="020B0003030000020004" pitchFamily="34" charset="0"/>
              </a:rPr>
              <a:t>/моль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G</a:t>
            </a:r>
            <a:r>
              <a:rPr lang="ru-RU" dirty="0">
                <a:latin typeface="JUZ40 FONTS Medium" panose="020B0003030000020004" pitchFamily="34" charset="0"/>
              </a:rPr>
              <a:t>) 80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H</a:t>
            </a:r>
            <a:r>
              <a:rPr lang="ru-RU" dirty="0">
                <a:latin typeface="JUZ40 FONTS Medium" panose="020B0003030000020004" pitchFamily="34" charset="0"/>
              </a:rPr>
              <a:t>) 144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9626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FC49-4FAB-E7D6-C7F8-F6D8DCFD0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2E065E-81C5-3EFA-EDD7-9C7263689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A612F9-F1FF-AC73-CDB9-D339FBDA7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200" dirty="0">
                <a:latin typeface="JUZ40 FONTS Medium" panose="020B0003030000020004" pitchFamily="34" charset="0"/>
              </a:rPr>
              <a:t>Құрамында көміртек, сутек, оттек және кальций атомдарының массалық қатынасы сәйкесінше  </a:t>
            </a:r>
          </a:p>
          <a:p>
            <a:pPr algn="l"/>
            <a:r>
              <a:rPr lang="en-US" sz="3200" dirty="0">
                <a:latin typeface="JUZ40 FONTS Medium" panose="020B0003030000020004" pitchFamily="34" charset="0"/>
              </a:rPr>
              <a:t>72</a:t>
            </a:r>
            <a:r>
              <a:rPr lang="kk-KZ" sz="3200" dirty="0">
                <a:latin typeface="JUZ40 FONTS Medium" panose="020B0003030000020004" pitchFamily="34" charset="0"/>
              </a:rPr>
              <a:t> </a:t>
            </a:r>
            <a:r>
              <a:rPr lang="en-US" sz="3200" dirty="0">
                <a:latin typeface="JUZ40 FONTS Medium" panose="020B0003030000020004" pitchFamily="34" charset="0"/>
              </a:rPr>
              <a:t>:</a:t>
            </a:r>
            <a:r>
              <a:rPr lang="kk-KZ" sz="3200" dirty="0">
                <a:latin typeface="JUZ40 FONTS Medium" panose="020B0003030000020004" pitchFamily="34" charset="0"/>
              </a:rPr>
              <a:t> </a:t>
            </a:r>
            <a:r>
              <a:rPr lang="en-US" sz="3200" dirty="0">
                <a:latin typeface="JUZ40 FONTS Medium" panose="020B0003030000020004" pitchFamily="34" charset="0"/>
              </a:rPr>
              <a:t>11</a:t>
            </a:r>
            <a:r>
              <a:rPr lang="kk-KZ" sz="3200" dirty="0">
                <a:latin typeface="JUZ40 FONTS Medium" panose="020B0003030000020004" pitchFamily="34" charset="0"/>
              </a:rPr>
              <a:t> </a:t>
            </a:r>
            <a:r>
              <a:rPr lang="en-US" sz="3200" dirty="0">
                <a:latin typeface="JUZ40 FONTS Medium" panose="020B0003030000020004" pitchFamily="34" charset="0"/>
              </a:rPr>
              <a:t>: 20</a:t>
            </a:r>
            <a:r>
              <a:rPr lang="kk-KZ" sz="3200" dirty="0">
                <a:latin typeface="JUZ40 FONTS Medium" panose="020B0003030000020004" pitchFamily="34" charset="0"/>
              </a:rPr>
              <a:t> </a:t>
            </a:r>
            <a:r>
              <a:rPr lang="en-US" sz="3200" dirty="0">
                <a:latin typeface="JUZ40 FONTS Medium" panose="020B0003030000020004" pitchFamily="34" charset="0"/>
              </a:rPr>
              <a:t>:</a:t>
            </a:r>
            <a:r>
              <a:rPr lang="kk-KZ" sz="3200" dirty="0">
                <a:latin typeface="JUZ40 FONTS Medium" panose="020B0003030000020004" pitchFamily="34" charset="0"/>
              </a:rPr>
              <a:t> </a:t>
            </a:r>
            <a:r>
              <a:rPr lang="en-US" sz="3200" dirty="0">
                <a:latin typeface="JUZ40 FONTS Medium" panose="020B0003030000020004" pitchFamily="34" charset="0"/>
              </a:rPr>
              <a:t>112 </a:t>
            </a:r>
            <a:r>
              <a:rPr lang="kk-KZ" sz="3200" dirty="0">
                <a:latin typeface="JUZ40 FONTS Medium" panose="020B0003030000020004" pitchFamily="34" charset="0"/>
              </a:rPr>
              <a:t>болатын қосылыстың формуласы</a:t>
            </a:r>
            <a:r>
              <a:rPr lang="ru-KZ" sz="4000" dirty="0">
                <a:effectLst/>
                <a:latin typeface="JUZ40 FONTS Medium" panose="020B0003030000020004" pitchFamily="34" charset="0"/>
              </a:rPr>
              <a:t> </a:t>
            </a:r>
            <a:endParaRPr lang="ru-KZ" sz="40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8618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C7A2B-B59A-F406-80F6-11CB9D0E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A46AC0-6E45-BD0F-EC76-8AA5ED093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791C94-D39B-2D5A-EA46-284D7A3B5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>
                <a:latin typeface="JUZ40 FONTS Medium" panose="020B0003030000020004" pitchFamily="34" charset="0"/>
              </a:rPr>
              <a:t>Құрамында 63,29% ксенон және фтордан тұратын бинарлы қосылыстың молекулалық формуласы мен байланыс түрі мен кристалдық тор типі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A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en-US" dirty="0" err="1">
                <a:latin typeface="JUZ40 FONTS Medium" panose="020B0003030000020004" pitchFamily="34" charset="0"/>
              </a:rPr>
              <a:t>XeF</a:t>
            </a:r>
            <a:r>
              <a:rPr lang="ru-RU" dirty="0">
                <a:latin typeface="JUZ40 FONTS Medium" panose="020B0003030000020004" pitchFamily="34" charset="0"/>
              </a:rPr>
              <a:t>4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B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en-US" dirty="0" err="1">
                <a:latin typeface="JUZ40 FONTS Medium" panose="020B0003030000020004" pitchFamily="34" charset="0"/>
              </a:rPr>
              <a:t>XeF</a:t>
            </a:r>
            <a:r>
              <a:rPr lang="ru-RU" dirty="0">
                <a:latin typeface="JUZ40 FONTS Medium" panose="020B0003030000020004" pitchFamily="34" charset="0"/>
              </a:rPr>
              <a:t>2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en-US" dirty="0">
                <a:latin typeface="JUZ40 FONTS Medium" panose="020B0003030000020004" pitchFamily="34" charset="0"/>
              </a:rPr>
              <a:t>C</a:t>
            </a:r>
            <a:r>
              <a:rPr lang="ru-RU" dirty="0">
                <a:latin typeface="JUZ40 FONTS Medium" panose="020B0003030000020004" pitchFamily="34" charset="0"/>
              </a:rPr>
              <a:t>) </a:t>
            </a:r>
            <a:r>
              <a:rPr lang="kk-KZ" dirty="0">
                <a:latin typeface="JUZ40 FONTS Medium" panose="020B0003030000020004" pitchFamily="34" charset="0"/>
              </a:rPr>
              <a:t>ковалентті полюссіз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>
                <a:latin typeface="JUZ40 FONTS Medium" panose="020B0003030000020004" pitchFamily="34" charset="0"/>
              </a:rPr>
              <a:t>D) ковалентті полюсті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E</a:t>
            </a:r>
            <a:r>
              <a:rPr lang="kk-KZ" dirty="0">
                <a:latin typeface="JUZ40 FONTS Medium" panose="020B0003030000020004" pitchFamily="34" charset="0"/>
              </a:rPr>
              <a:t>) иондық</a:t>
            </a:r>
            <a:endParaRPr lang="ru-KZ" dirty="0">
              <a:latin typeface="JUZ40 FONTS Medium" panose="020B0003030000020004" pitchFamily="34" charset="0"/>
            </a:endParaRPr>
          </a:p>
          <a:p>
            <a:pPr algn="l"/>
            <a:r>
              <a:rPr lang="kk-KZ" dirty="0" err="1">
                <a:latin typeface="JUZ40 FONTS Medium" panose="020B0003030000020004" pitchFamily="34" charset="0"/>
              </a:rPr>
              <a:t>F</a:t>
            </a:r>
            <a:r>
              <a:rPr lang="kk-KZ" dirty="0">
                <a:latin typeface="JUZ40 FONTS Medium" panose="020B0003030000020004" pitchFamily="34" charset="0"/>
              </a:rPr>
              <a:t>) атомдық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8019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8D5D2-AD8D-8E7D-5A5A-12F7890D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A6CC22-6FBD-2621-FE71-A717EC2EB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B5D6D0-1832-1ECC-F660-5C87474CE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2800" dirty="0">
                <a:latin typeface="JUZ40 FONTS Medium" panose="020B0003030000020004" pitchFamily="34" charset="0"/>
              </a:rPr>
              <a:t>Алюминий сульфаты </a:t>
            </a:r>
            <a:r>
              <a:rPr lang="kk-KZ" sz="2800" dirty="0" err="1">
                <a:latin typeface="JUZ40 FONTS Medium" panose="020B0003030000020004" pitchFamily="34" charset="0"/>
              </a:rPr>
              <a:t>кристаллогидратындағы</a:t>
            </a:r>
            <a:r>
              <a:rPr lang="kk-KZ" sz="2800" dirty="0">
                <a:latin typeface="JUZ40 FONTS Medium" panose="020B0003030000020004" pitchFamily="34" charset="0"/>
              </a:rPr>
              <a:t> сусыз тұздың массалық үлесі 73,1% болса, </a:t>
            </a:r>
            <a:r>
              <a:rPr lang="kk-KZ" sz="2800" dirty="0" err="1">
                <a:latin typeface="JUZ40 FONTS Medium" panose="020B0003030000020004" pitchFamily="34" charset="0"/>
              </a:rPr>
              <a:t>кристаллогидрат</a:t>
            </a:r>
            <a:r>
              <a:rPr lang="kk-KZ" sz="2800" dirty="0">
                <a:latin typeface="JUZ40 FONTS Medium" panose="020B0003030000020004" pitchFamily="34" charset="0"/>
              </a:rPr>
              <a:t> формуласы</a:t>
            </a:r>
            <a:endParaRPr lang="ru-KZ" sz="28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0815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CB284-1682-6131-7FFE-009B0FFE6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436DE8-56FC-CCE0-7658-C15D046B9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A7AAF1-E626-5DFB-8656-C8731E95A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>
                <a:latin typeface="JUZ40 FONTS Medium" panose="020B0003030000020004" pitchFamily="34" charset="0"/>
              </a:rPr>
              <a:t>Хром (</a:t>
            </a:r>
            <a:r>
              <a:rPr lang="en-US" dirty="0">
                <a:latin typeface="JUZ40 FONTS Medium" panose="020B0003030000020004" pitchFamily="34" charset="0"/>
              </a:rPr>
              <a:t>III</a:t>
            </a:r>
            <a:r>
              <a:rPr lang="kk-KZ" dirty="0">
                <a:latin typeface="JUZ40 FONTS Medium" panose="020B0003030000020004" pitchFamily="34" charset="0"/>
              </a:rPr>
              <a:t>) нитраты </a:t>
            </a:r>
            <a:r>
              <a:rPr lang="kk-KZ" dirty="0" err="1">
                <a:latin typeface="JUZ40 FONTS Medium" panose="020B0003030000020004" pitchFamily="34" charset="0"/>
              </a:rPr>
              <a:t>кристаллогидраты</a:t>
            </a:r>
            <a:r>
              <a:rPr lang="kk-KZ" dirty="0">
                <a:latin typeface="JUZ40 FONTS Medium" panose="020B0003030000020004" pitchFamily="34" charset="0"/>
              </a:rPr>
              <a:t> құрамындағы азоттың массалық үлесі </a:t>
            </a:r>
            <a:r>
              <a:rPr lang="en-US" dirty="0">
                <a:latin typeface="JUZ40 FONTS Medium" panose="020B0003030000020004" pitchFamily="34" charset="0"/>
              </a:rPr>
              <a:t>15,3%</a:t>
            </a:r>
            <a:r>
              <a:rPr lang="kk-KZ" dirty="0">
                <a:latin typeface="JUZ40 FONTS Medium" panose="020B0003030000020004" pitchFamily="34" charset="0"/>
              </a:rPr>
              <a:t> </a:t>
            </a:r>
            <a:r>
              <a:rPr lang="ru-RU" dirty="0" err="1">
                <a:latin typeface="JUZ40 FONTS Medium" panose="020B0003030000020004" pitchFamily="34" charset="0"/>
              </a:rPr>
              <a:t>болса</a:t>
            </a:r>
            <a:r>
              <a:rPr lang="ru-RU" dirty="0">
                <a:latin typeface="JUZ40 FONTS Medium" panose="020B0003030000020004" pitchFamily="34" charset="0"/>
              </a:rPr>
              <a:t>, </a:t>
            </a:r>
            <a:r>
              <a:rPr lang="ru-RU" dirty="0" err="1">
                <a:latin typeface="JUZ40 FONTS Medium" panose="020B0003030000020004" pitchFamily="34" charset="0"/>
              </a:rPr>
              <a:t>онда</a:t>
            </a:r>
            <a:r>
              <a:rPr lang="ru-RU" dirty="0">
                <a:latin typeface="JUZ40 FONTS Medium" panose="020B0003030000020004" pitchFamily="34" charset="0"/>
              </a:rPr>
              <a:t> </a:t>
            </a:r>
            <a:r>
              <a:rPr lang="ru-RU" dirty="0" err="1">
                <a:latin typeface="JUZ40 FONTS Medium" panose="020B0003030000020004" pitchFamily="34" charset="0"/>
              </a:rPr>
              <a:t>судың</a:t>
            </a:r>
            <a:r>
              <a:rPr lang="ru-RU" dirty="0">
                <a:latin typeface="JUZ40 FONTS Medium" panose="020B0003030000020004" pitchFamily="34" charset="0"/>
              </a:rPr>
              <a:t> </a:t>
            </a:r>
            <a:r>
              <a:rPr lang="ru-RU" dirty="0" err="1">
                <a:latin typeface="JUZ40 FONTS Medium" panose="020B0003030000020004" pitchFamily="34" charset="0"/>
              </a:rPr>
              <a:t>массалық</a:t>
            </a:r>
            <a:r>
              <a:rPr lang="ru-RU" dirty="0">
                <a:latin typeface="JUZ40 FONTS Medium" panose="020B0003030000020004" pitchFamily="34" charset="0"/>
              </a:rPr>
              <a:t> </a:t>
            </a:r>
            <a:r>
              <a:rPr lang="ru-RU" dirty="0" err="1">
                <a:latin typeface="JUZ40 FONTS Medium" panose="020B0003030000020004" pitchFamily="34" charset="0"/>
              </a:rPr>
              <a:t>үлесі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8968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CA2BA-9C78-68FB-B81D-5A5F5E6B3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0A415D-67E4-4EDC-FAC0-0F65A1A67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4EB1D3-4EFF-2F44-0929-0CACB553E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3600" dirty="0">
                <a:latin typeface="JUZ40 FONTS Medium" panose="020B0003030000020004" pitchFamily="34" charset="0"/>
              </a:rPr>
              <a:t>Металл</a:t>
            </a:r>
            <a:r>
              <a:rPr lang="en-US" sz="3600" dirty="0">
                <a:latin typeface="JUZ40 FONTS Medium" panose="020B0003030000020004" pitchFamily="34" charset="0"/>
              </a:rPr>
              <a:t> (III)</a:t>
            </a:r>
            <a:r>
              <a:rPr lang="kk-KZ" sz="3600" dirty="0">
                <a:latin typeface="JUZ40 FONTS Medium" panose="020B0003030000020004" pitchFamily="34" charset="0"/>
              </a:rPr>
              <a:t> сульфаты </a:t>
            </a:r>
            <a:r>
              <a:rPr lang="kk-KZ" sz="3600" dirty="0" err="1">
                <a:latin typeface="JUZ40 FONTS Medium" panose="020B0003030000020004" pitchFamily="34" charset="0"/>
              </a:rPr>
              <a:t>кристаллогидратындағы</a:t>
            </a:r>
            <a:r>
              <a:rPr lang="kk-KZ" sz="3600" dirty="0">
                <a:latin typeface="JUZ40 FONTS Medium" panose="020B0003030000020004" pitchFamily="34" charset="0"/>
              </a:rPr>
              <a:t> оттектің үлесі </a:t>
            </a:r>
            <a:r>
              <a:rPr lang="en-US" sz="3600" dirty="0">
                <a:latin typeface="JUZ40 FONTS Medium" panose="020B0003030000020004" pitchFamily="34" charset="0"/>
              </a:rPr>
              <a:t>54,82% </a:t>
            </a:r>
            <a:r>
              <a:rPr lang="kk-KZ" sz="3600" dirty="0">
                <a:latin typeface="JUZ40 FONTS Medium" panose="020B0003030000020004" pitchFamily="34" charset="0"/>
              </a:rPr>
              <a:t>болса, судың зат мөлшері және металдың электрондық конфигурациясы</a:t>
            </a:r>
            <a:endParaRPr lang="ru-KZ" sz="36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6392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5B68-DEAB-D8D8-A99D-DA9EFBE5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930CE4-C62F-115D-7D9E-6A3491D7A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0F15C5-D1F8-5CB5-4CDF-D5E95B39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lvl="0" algn="l"/>
            <a:r>
              <a:rPr lang="ru-KZ" dirty="0">
                <a:latin typeface="JUZ40 FONTS Medium" panose="020B0003030000020004" pitchFamily="34" charset="0"/>
              </a:rPr>
              <a:t>Метанның жану реакциясының термохимиялық теңдеуі:</a:t>
            </a:r>
          </a:p>
          <a:p>
            <a:pPr algn="l"/>
            <a:r>
              <a:rPr lang="ru-KZ" dirty="0">
                <a:latin typeface="JUZ40 FONTS Medium" panose="020B0003030000020004" pitchFamily="34" charset="0"/>
              </a:rPr>
              <a:t>CH</a:t>
            </a:r>
            <a:r>
              <a:rPr lang="ru-KZ" baseline="-25000" dirty="0">
                <a:latin typeface="JUZ40 FONTS Medium" panose="020B0003030000020004" pitchFamily="34" charset="0"/>
              </a:rPr>
              <a:t>4</a:t>
            </a:r>
            <a:r>
              <a:rPr lang="ru-KZ" dirty="0">
                <a:latin typeface="JUZ40 FONTS Medium" panose="020B0003030000020004" pitchFamily="34" charset="0"/>
              </a:rPr>
              <a:t>+2O</a:t>
            </a:r>
            <a:r>
              <a:rPr lang="ru-KZ" baseline="-25000" dirty="0">
                <a:latin typeface="JUZ40 FONTS Medium" panose="020B0003030000020004" pitchFamily="34" charset="0"/>
              </a:rPr>
              <a:t>2</a:t>
            </a:r>
            <a:r>
              <a:rPr lang="ru-KZ" dirty="0">
                <a:latin typeface="JUZ40 FONTS Medium" panose="020B0003030000020004" pitchFamily="34" charset="0"/>
              </a:rPr>
              <a:t>→CO</a:t>
            </a:r>
            <a:r>
              <a:rPr lang="ru-KZ" baseline="-25000" dirty="0">
                <a:latin typeface="JUZ40 FONTS Medium" panose="020B0003030000020004" pitchFamily="34" charset="0"/>
              </a:rPr>
              <a:t>2</a:t>
            </a:r>
            <a:r>
              <a:rPr lang="ru-KZ" dirty="0">
                <a:latin typeface="JUZ40 FONTS Medium" panose="020B0003030000020004" pitchFamily="34" charset="0"/>
              </a:rPr>
              <a:t>+2H</a:t>
            </a:r>
            <a:r>
              <a:rPr lang="ru-KZ" baseline="-25000" dirty="0">
                <a:latin typeface="JUZ40 FONTS Medium" panose="020B0003030000020004" pitchFamily="34" charset="0"/>
              </a:rPr>
              <a:t>2</a:t>
            </a:r>
            <a:r>
              <a:rPr lang="ru-KZ" dirty="0">
                <a:latin typeface="JUZ40 FONTS Medium" panose="020B0003030000020004" pitchFamily="34" charset="0"/>
              </a:rPr>
              <a:t>O+890 кДж</a:t>
            </a:r>
          </a:p>
          <a:p>
            <a:pPr algn="l"/>
            <a:r>
              <a:rPr lang="ru-KZ" dirty="0">
                <a:latin typeface="JUZ40 FONTS Medium" panose="020B0003030000020004" pitchFamily="34" charset="0"/>
              </a:rPr>
              <a:t>Реакция нәтижесінде 445 кДж жылу бөлінсе, жұмсалған оттегінің көлемі (қ.ж.) қандай?</a:t>
            </a:r>
          </a:p>
          <a:p>
            <a:pPr algn="l"/>
            <a:r>
              <a:rPr lang="ru-KZ" dirty="0">
                <a:latin typeface="JUZ40 FONTS Medium" panose="020B0003030000020004" pitchFamily="34" charset="0"/>
              </a:rPr>
              <a:t>  A) 11,2 л</a:t>
            </a:r>
            <a:br>
              <a:rPr lang="ru-KZ" dirty="0">
                <a:latin typeface="JUZ40 FONTS Medium" panose="020B0003030000020004" pitchFamily="34" charset="0"/>
              </a:rPr>
            </a:br>
            <a:r>
              <a:rPr lang="ru-KZ" dirty="0">
                <a:latin typeface="JUZ40 FONTS Medium" panose="020B0003030000020004" pitchFamily="34" charset="0"/>
              </a:rPr>
              <a:t>B) 22,4 л</a:t>
            </a:r>
            <a:br>
              <a:rPr lang="ru-KZ" dirty="0">
                <a:latin typeface="JUZ40 FONTS Medium" panose="020B0003030000020004" pitchFamily="34" charset="0"/>
              </a:rPr>
            </a:br>
            <a:r>
              <a:rPr lang="ru-KZ" dirty="0">
                <a:latin typeface="JUZ40 FONTS Medium" panose="020B0003030000020004" pitchFamily="34" charset="0"/>
              </a:rPr>
              <a:t>C) 16,8 л</a:t>
            </a:r>
            <a:br>
              <a:rPr lang="ru-KZ" dirty="0">
                <a:latin typeface="JUZ40 FONTS Medium" panose="020B0003030000020004" pitchFamily="34" charset="0"/>
              </a:rPr>
            </a:br>
            <a:r>
              <a:rPr lang="ru-KZ" dirty="0">
                <a:latin typeface="JUZ40 FONTS Medium" panose="020B0003030000020004" pitchFamily="34" charset="0"/>
              </a:rPr>
              <a:t>D) 33,6 л</a:t>
            </a:r>
          </a:p>
        </p:txBody>
      </p:sp>
    </p:spTree>
    <p:extLst>
      <p:ext uri="{BB962C8B-B14F-4D97-AF65-F5344CB8AC3E}">
        <p14:creationId xmlns:p14="http://schemas.microsoft.com/office/powerpoint/2010/main" val="27641440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53940-BA89-E7A1-DA64-00DA1B31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0434FF-B3BC-1374-D0CB-09AA86A28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ECFCB8-0E5B-FC7F-011C-7CFA53D3A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IV</a:t>
            </a:r>
            <a:r>
              <a:rPr lang="kk-KZ" sz="3200" dirty="0">
                <a:latin typeface="JUZ40 FONTS Medium" panose="020B0003030000020004" pitchFamily="34" charset="0"/>
              </a:rPr>
              <a:t> период </a:t>
            </a:r>
            <a:r>
              <a:rPr lang="en-US" sz="3200" dirty="0">
                <a:latin typeface="JUZ40 FONTS Medium" panose="020B0003030000020004" pitchFamily="34" charset="0"/>
              </a:rPr>
              <a:t>V</a:t>
            </a:r>
            <a:r>
              <a:rPr lang="kk-KZ" sz="3200" dirty="0">
                <a:latin typeface="JUZ40 FONTS Medium" panose="020B0003030000020004" pitchFamily="34" charset="0"/>
              </a:rPr>
              <a:t>А топшасында орналасқан</a:t>
            </a:r>
            <a:r>
              <a:rPr lang="ru-RU" sz="3200" dirty="0">
                <a:latin typeface="JUZ40 FONTS Medium" panose="020B0003030000020004" pitchFamily="34" charset="0"/>
              </a:rPr>
              <a:t> </a:t>
            </a:r>
            <a:r>
              <a:rPr lang="ru-RU" sz="3200" dirty="0" err="1">
                <a:latin typeface="JUZ40 FONTS Medium" panose="020B0003030000020004" pitchFamily="34" charset="0"/>
              </a:rPr>
              <a:t>элементтің</a:t>
            </a:r>
            <a:r>
              <a:rPr lang="ru-RU" sz="3200" dirty="0">
                <a:latin typeface="JUZ40 FONTS Medium" panose="020B0003030000020004" pitchFamily="34" charset="0"/>
              </a:rPr>
              <a:t> </a:t>
            </a:r>
            <a:r>
              <a:rPr lang="kk-KZ" sz="3200" dirty="0">
                <a:latin typeface="JUZ40 FONTS Medium" panose="020B0003030000020004" pitchFamily="34" charset="0"/>
              </a:rPr>
              <a:t>ұшқыш сутекті </a:t>
            </a:r>
            <a:r>
              <a:rPr lang="kk-KZ" sz="3200" dirty="0" err="1">
                <a:latin typeface="JUZ40 FONTS Medium" panose="020B0003030000020004" pitchFamily="34" charset="0"/>
              </a:rPr>
              <a:t>қосылысындағы</a:t>
            </a:r>
            <a:r>
              <a:rPr lang="kk-KZ" sz="3200" dirty="0">
                <a:latin typeface="JUZ40 FONTS Medium" panose="020B0003030000020004" pitchFamily="34" charset="0"/>
              </a:rPr>
              <a:t> ионына сәйкес келетін электрондық конфигурациясы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…4s</a:t>
            </a:r>
            <a:r>
              <a:rPr lang="en-US" sz="3200" baseline="30000" dirty="0">
                <a:latin typeface="JUZ40 FONTS Medium" panose="020B0003030000020004" pitchFamily="34" charset="0"/>
              </a:rPr>
              <a:t>2</a:t>
            </a:r>
            <a:r>
              <a:rPr lang="en-US" sz="3200" dirty="0">
                <a:latin typeface="JUZ40 FONTS Medium" panose="020B0003030000020004" pitchFamily="34" charset="0"/>
              </a:rPr>
              <a:t>4p</a:t>
            </a:r>
            <a:r>
              <a:rPr lang="en-US" sz="3200" baseline="30000" dirty="0">
                <a:latin typeface="JUZ40 FONTS Medium" panose="020B0003030000020004" pitchFamily="34" charset="0"/>
              </a:rPr>
              <a:t>3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…4s</a:t>
            </a:r>
            <a:r>
              <a:rPr lang="en-US" sz="3200" baseline="30000" dirty="0">
                <a:latin typeface="JUZ40 FONTS Medium" panose="020B0003030000020004" pitchFamily="34" charset="0"/>
              </a:rPr>
              <a:t>2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…4s</a:t>
            </a:r>
            <a:r>
              <a:rPr lang="en-US" sz="3200" baseline="30000" dirty="0">
                <a:latin typeface="JUZ40 FONTS Medium" panose="020B0003030000020004" pitchFamily="34" charset="0"/>
              </a:rPr>
              <a:t>2</a:t>
            </a:r>
            <a:r>
              <a:rPr lang="en-US" sz="3200" dirty="0">
                <a:latin typeface="JUZ40 FONTS Medium" panose="020B0003030000020004" pitchFamily="34" charset="0"/>
              </a:rPr>
              <a:t>4p</a:t>
            </a:r>
            <a:r>
              <a:rPr lang="en-US" sz="3200" baseline="30000" dirty="0">
                <a:latin typeface="JUZ40 FONTS Medium" panose="020B0003030000020004" pitchFamily="34" charset="0"/>
              </a:rPr>
              <a:t>6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…4s</a:t>
            </a:r>
            <a:r>
              <a:rPr lang="en-US" sz="3200" baseline="30000" dirty="0">
                <a:latin typeface="JUZ40 FONTS Medium" panose="020B0003030000020004" pitchFamily="34" charset="0"/>
              </a:rPr>
              <a:t>2</a:t>
            </a:r>
            <a:r>
              <a:rPr lang="en-US" sz="3200" dirty="0">
                <a:latin typeface="JUZ40 FONTS Medium" panose="020B0003030000020004" pitchFamily="34" charset="0"/>
              </a:rPr>
              <a:t>4p</a:t>
            </a:r>
            <a:r>
              <a:rPr lang="en-US" sz="3200" baseline="30000" dirty="0">
                <a:latin typeface="JUZ40 FONTS Medium" panose="020B0003030000020004" pitchFamily="34" charset="0"/>
              </a:rPr>
              <a:t>8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8759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89B14-8253-7F52-98AD-A3D5EC29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0E525F-5E89-B054-41D1-1AA4CB17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F17467-0754-8B7A-F41A-1B48B024B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lvl="0" algn="l"/>
            <a:r>
              <a:rPr lang="en-US" dirty="0">
                <a:latin typeface="JUZ40 FONTS Medium" panose="020B0003030000020004" pitchFamily="34" charset="0"/>
              </a:rPr>
              <a:t>IV</a:t>
            </a:r>
            <a:r>
              <a:rPr lang="ru-RU" dirty="0">
                <a:latin typeface="JUZ40 FONTS Medium" panose="020B0003030000020004" pitchFamily="34" charset="0"/>
              </a:rPr>
              <a:t>-</a:t>
            </a:r>
            <a:r>
              <a:rPr lang="ru-RU" dirty="0" err="1">
                <a:latin typeface="JUZ40 FONTS Medium" panose="020B0003030000020004" pitchFamily="34" charset="0"/>
              </a:rPr>
              <a:t>ші</a:t>
            </a:r>
            <a:r>
              <a:rPr lang="ru-RU" dirty="0">
                <a:latin typeface="JUZ40 FONTS Medium" panose="020B0003030000020004" pitchFamily="34" charset="0"/>
              </a:rPr>
              <a:t> </a:t>
            </a:r>
            <a:r>
              <a:rPr lang="kk-KZ" dirty="0">
                <a:latin typeface="JUZ40 FONTS Medium" panose="020B0003030000020004" pitchFamily="34" charset="0"/>
              </a:rPr>
              <a:t>топтағы атом радиусы</a:t>
            </a:r>
            <a:r>
              <a:rPr lang="ru-RU" dirty="0">
                <a:latin typeface="JUZ40 FONTS Medium" panose="020B0003030000020004" pitchFamily="34" charset="0"/>
              </a:rPr>
              <a:t> </a:t>
            </a:r>
            <a:r>
              <a:rPr lang="ru-RU" dirty="0" err="1">
                <a:latin typeface="JUZ40 FONTS Medium" panose="020B0003030000020004" pitchFamily="34" charset="0"/>
              </a:rPr>
              <a:t>ең</a:t>
            </a:r>
            <a:r>
              <a:rPr lang="ru-RU" dirty="0">
                <a:latin typeface="JUZ40 FONTS Medium" panose="020B0003030000020004" pitchFamily="34" charset="0"/>
              </a:rPr>
              <a:t> </a:t>
            </a:r>
            <a:r>
              <a:rPr lang="kk-KZ" dirty="0">
                <a:latin typeface="JUZ40 FONTS Medium" panose="020B0003030000020004" pitchFamily="34" charset="0"/>
              </a:rPr>
              <a:t>төменгі</a:t>
            </a:r>
            <a:r>
              <a:rPr lang="ru-RU" dirty="0">
                <a:latin typeface="JUZ40 FONTS Medium" panose="020B0003030000020004" pitchFamily="34" charset="0"/>
              </a:rPr>
              <a:t> элемент пен </a:t>
            </a:r>
            <a:r>
              <a:rPr lang="kk-KZ" dirty="0">
                <a:latin typeface="JUZ40 FONTS Medium" panose="020B0003030000020004" pitchFamily="34" charset="0"/>
              </a:rPr>
              <a:t>І</a:t>
            </a:r>
            <a:r>
              <a:rPr lang="ru-RU" dirty="0">
                <a:latin typeface="JUZ40 FONTS Medium" panose="020B0003030000020004" pitchFamily="34" charset="0"/>
              </a:rPr>
              <a:t>I</a:t>
            </a:r>
            <a:r>
              <a:rPr lang="en-US" dirty="0">
                <a:latin typeface="JUZ40 FONTS Medium" panose="020B0003030000020004" pitchFamily="34" charset="0"/>
              </a:rPr>
              <a:t>I</a:t>
            </a:r>
            <a:r>
              <a:rPr lang="ru-RU" dirty="0">
                <a:latin typeface="JUZ40 FONTS Medium" panose="020B0003030000020004" pitchFamily="34" charset="0"/>
              </a:rPr>
              <a:t>-</a:t>
            </a:r>
            <a:r>
              <a:rPr lang="kk-KZ" dirty="0" err="1">
                <a:latin typeface="JUZ40 FONTS Medium" panose="020B0003030000020004" pitchFamily="34" charset="0"/>
              </a:rPr>
              <a:t>ші</a:t>
            </a:r>
            <a:r>
              <a:rPr lang="kk-KZ" dirty="0">
                <a:latin typeface="JUZ40 FONTS Medium" panose="020B0003030000020004" pitchFamily="34" charset="0"/>
              </a:rPr>
              <a:t> периодтағы иондану энергиясы ең жоғары галоген арасында </a:t>
            </a:r>
            <a:r>
              <a:rPr lang="ru-RU" dirty="0" err="1">
                <a:latin typeface="JUZ40 FONTS Medium" panose="020B0003030000020004" pitchFamily="34" charset="0"/>
              </a:rPr>
              <a:t>түзілетін</a:t>
            </a:r>
            <a:r>
              <a:rPr lang="ru-RU" dirty="0">
                <a:latin typeface="JUZ40 FONTS Medium" panose="020B0003030000020004" pitchFamily="34" charset="0"/>
              </a:rPr>
              <a:t> </a:t>
            </a:r>
            <a:r>
              <a:rPr lang="ru-RU" dirty="0" err="1">
                <a:latin typeface="JUZ40 FONTS Medium" panose="020B0003030000020004" pitchFamily="34" charset="0"/>
              </a:rPr>
              <a:t>қосылыстың</a:t>
            </a:r>
            <a:r>
              <a:rPr lang="ru-RU" dirty="0">
                <a:latin typeface="JUZ40 FONTS Medium" panose="020B0003030000020004" pitchFamily="34" charset="0"/>
              </a:rPr>
              <a:t> </a:t>
            </a:r>
            <a:r>
              <a:rPr lang="ru-RU" dirty="0" err="1">
                <a:latin typeface="JUZ40 FONTS Medium" panose="020B0003030000020004" pitchFamily="34" charset="0"/>
              </a:rPr>
              <a:t>химиялық</a:t>
            </a:r>
            <a:r>
              <a:rPr lang="ru-RU" dirty="0">
                <a:latin typeface="JUZ40 FONTS Medium" panose="020B0003030000020004" pitchFamily="34" charset="0"/>
              </a:rPr>
              <a:t> </a:t>
            </a:r>
            <a:r>
              <a:rPr lang="ru-RU" dirty="0" err="1">
                <a:latin typeface="JUZ40 FONTS Medium" panose="020B0003030000020004" pitchFamily="34" charset="0"/>
              </a:rPr>
              <a:t>байланысы</a:t>
            </a:r>
            <a:r>
              <a:rPr lang="ru-RU" dirty="0">
                <a:latin typeface="JUZ40 FONTS Medium" panose="020B0003030000020004" pitchFamily="34" charset="0"/>
              </a:rPr>
              <a:t> </a:t>
            </a:r>
            <a:r>
              <a:rPr lang="ru-RU" dirty="0" err="1">
                <a:latin typeface="JUZ40 FONTS Medium" panose="020B0003030000020004" pitchFamily="34" charset="0"/>
              </a:rPr>
              <a:t>және</a:t>
            </a:r>
            <a:r>
              <a:rPr lang="ru-RU" dirty="0">
                <a:latin typeface="JUZ40 FONTS Medium" panose="020B0003030000020004" pitchFamily="34" charset="0"/>
              </a:rPr>
              <a:t> </a:t>
            </a:r>
            <a:r>
              <a:rPr lang="ru-RU" dirty="0" err="1">
                <a:latin typeface="JUZ40 FONTS Medium" panose="020B0003030000020004" pitchFamily="34" charset="0"/>
              </a:rPr>
              <a:t>кристалдық</a:t>
            </a:r>
            <a:r>
              <a:rPr lang="ru-RU" dirty="0">
                <a:latin typeface="JUZ40 FONTS Medium" panose="020B0003030000020004" pitchFamily="34" charset="0"/>
              </a:rPr>
              <a:t> тор </a:t>
            </a:r>
            <a:r>
              <a:rPr lang="ru-RU" dirty="0" err="1">
                <a:latin typeface="JUZ40 FONTS Medium" panose="020B0003030000020004" pitchFamily="34" charset="0"/>
              </a:rPr>
              <a:t>түрі</a:t>
            </a:r>
            <a:endParaRPr lang="ru-KZ" dirty="0">
              <a:latin typeface="JUZ40 FONTS Medium" panose="020B0003030000020004" pitchFamily="34" charset="0"/>
            </a:endParaRPr>
          </a:p>
          <a:p>
            <a:pPr lvl="0" algn="l"/>
            <a:r>
              <a:rPr lang="kk-KZ" dirty="0">
                <a:latin typeface="JUZ40 FONTS Medium" panose="020B0003030000020004" pitchFamily="34" charset="0"/>
              </a:rPr>
              <a:t>Иондық, иондық</a:t>
            </a:r>
            <a:endParaRPr lang="ru-KZ" dirty="0">
              <a:latin typeface="JUZ40 FONTS Medium" panose="020B0003030000020004" pitchFamily="34" charset="0"/>
            </a:endParaRPr>
          </a:p>
          <a:p>
            <a:pPr lvl="0" algn="l"/>
            <a:r>
              <a:rPr lang="kk-KZ" dirty="0">
                <a:latin typeface="JUZ40 FONTS Medium" panose="020B0003030000020004" pitchFamily="34" charset="0"/>
              </a:rPr>
              <a:t>Ковалентті полюсті, молекулалық</a:t>
            </a:r>
            <a:endParaRPr lang="ru-KZ" dirty="0">
              <a:latin typeface="JUZ40 FONTS Medium" panose="020B0003030000020004" pitchFamily="34" charset="0"/>
            </a:endParaRPr>
          </a:p>
          <a:p>
            <a:pPr lvl="0" algn="l"/>
            <a:r>
              <a:rPr lang="kk-KZ" dirty="0">
                <a:latin typeface="JUZ40 FONTS Medium" panose="020B0003030000020004" pitchFamily="34" charset="0"/>
              </a:rPr>
              <a:t>Ковалентті полюсті, иондық</a:t>
            </a:r>
            <a:endParaRPr lang="ru-KZ" dirty="0">
              <a:latin typeface="JUZ40 FONTS Medium" panose="020B0003030000020004" pitchFamily="34" charset="0"/>
            </a:endParaRPr>
          </a:p>
          <a:p>
            <a:pPr lvl="0" algn="l"/>
            <a:r>
              <a:rPr lang="kk-KZ" dirty="0">
                <a:latin typeface="JUZ40 FONTS Medium" panose="020B0003030000020004" pitchFamily="34" charset="0"/>
              </a:rPr>
              <a:t>Иондық, молекулалық</a:t>
            </a:r>
            <a:endParaRPr lang="ru-KZ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3247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1F1EC-D6DE-1BBE-5EDD-AE1DFE92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E35556-90BA-8A7F-31CC-80795BCB5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33CD93-C047-F332-4E4C-C77B7F826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lvl="0" algn="l"/>
            <a:r>
              <a:rPr lang="kk-KZ" sz="2800" dirty="0" err="1">
                <a:latin typeface="JUZ40 FONTS Medium" panose="020B0003030000020004" pitchFamily="34" charset="0"/>
              </a:rPr>
              <a:t>Нуклидтің</a:t>
            </a:r>
            <a:r>
              <a:rPr lang="kk-KZ" sz="2800" dirty="0">
                <a:latin typeface="JUZ40 FONTS Medium" panose="020B0003030000020004" pitchFamily="34" charset="0"/>
              </a:rPr>
              <a:t> массалық саны </a:t>
            </a:r>
            <a:r>
              <a:rPr lang="en-US" sz="2800" dirty="0">
                <a:latin typeface="JUZ40 FONTS Medium" panose="020B0003030000020004" pitchFamily="34" charset="0"/>
              </a:rPr>
              <a:t>56</a:t>
            </a:r>
            <a:r>
              <a:rPr lang="kk-KZ" sz="2800" dirty="0">
                <a:latin typeface="JUZ40 FONTS Medium" panose="020B0003030000020004" pitchFamily="34" charset="0"/>
              </a:rPr>
              <a:t>, нейтрондардың үлесі 5</a:t>
            </a:r>
            <a:r>
              <a:rPr lang="en-US" sz="2800" dirty="0">
                <a:latin typeface="JUZ40 FONTS Medium" panose="020B0003030000020004" pitchFamily="34" charset="0"/>
              </a:rPr>
              <a:t>7</a:t>
            </a:r>
            <a:r>
              <a:rPr lang="kk-KZ" sz="2800" dirty="0">
                <a:latin typeface="JUZ40 FONTS Medium" panose="020B0003030000020004" pitchFamily="34" charset="0"/>
              </a:rPr>
              <a:t>,1</a:t>
            </a:r>
            <a:r>
              <a:rPr lang="en-US" sz="2800" dirty="0">
                <a:latin typeface="JUZ40 FONTS Medium" panose="020B0003030000020004" pitchFamily="34" charset="0"/>
              </a:rPr>
              <a:t>4</a:t>
            </a:r>
            <a:r>
              <a:rPr lang="kk-KZ" sz="2800" dirty="0">
                <a:latin typeface="JUZ40 FONTS Medium" panose="020B0003030000020004" pitchFamily="34" charset="0"/>
              </a:rPr>
              <a:t>%. Қай элементтің </a:t>
            </a:r>
            <a:r>
              <a:rPr lang="kk-KZ" sz="2800" dirty="0" err="1">
                <a:latin typeface="JUZ40 FONTS Medium" panose="020B0003030000020004" pitchFamily="34" charset="0"/>
              </a:rPr>
              <a:t>нуклиді</a:t>
            </a:r>
            <a:r>
              <a:rPr lang="kk-KZ" sz="2800" dirty="0">
                <a:latin typeface="JUZ40 FONTS Medium" panose="020B0003030000020004" pitchFamily="34" charset="0"/>
              </a:rPr>
              <a:t> екенін анықтаңдар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lvl="0" algn="l"/>
            <a:r>
              <a:rPr lang="kk-KZ" sz="2800" dirty="0">
                <a:latin typeface="JUZ40 FONTS Medium" panose="020B0003030000020004" pitchFamily="34" charset="0"/>
              </a:rPr>
              <a:t>марганец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lvl="0" algn="l"/>
            <a:r>
              <a:rPr lang="kk-KZ" sz="2800" dirty="0">
                <a:latin typeface="JUZ40 FONTS Medium" panose="020B0003030000020004" pitchFamily="34" charset="0"/>
              </a:rPr>
              <a:t>темір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lvl="0" algn="l"/>
            <a:r>
              <a:rPr lang="kk-KZ" sz="2800" dirty="0">
                <a:latin typeface="JUZ40 FONTS Medium" panose="020B0003030000020004" pitchFamily="34" charset="0"/>
              </a:rPr>
              <a:t>хром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lvl="0" algn="l"/>
            <a:r>
              <a:rPr lang="kk-KZ" sz="2800" dirty="0">
                <a:latin typeface="JUZ40 FONTS Medium" panose="020B0003030000020004" pitchFamily="34" charset="0"/>
              </a:rPr>
              <a:t>кобальт</a:t>
            </a:r>
            <a:endParaRPr lang="ru-KZ" sz="28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5718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EF77D-3499-4AF5-78CA-C604C7C3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91A5A5-0392-B36C-7099-0F4F697D1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9BC6C2-BE9E-0E45-315F-B88A5D733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lvl="0" algn="l"/>
            <a:r>
              <a:rPr lang="ru-RU" sz="2800" dirty="0" err="1">
                <a:latin typeface="JUZ40 FONTS Medium" panose="020B0003030000020004" pitchFamily="34" charset="0"/>
              </a:rPr>
              <a:t>Барлығында</a:t>
            </a:r>
            <a:r>
              <a:rPr lang="ru-RU" sz="2800" dirty="0">
                <a:latin typeface="JUZ40 FONTS Medium" panose="020B0003030000020004" pitchFamily="34" charset="0"/>
              </a:rPr>
              <a:t> </a:t>
            </a:r>
            <a:r>
              <a:rPr lang="ru-RU" sz="2800" dirty="0" err="1">
                <a:latin typeface="JUZ40 FONTS Medium" panose="020B0003030000020004" pitchFamily="34" charset="0"/>
              </a:rPr>
              <a:t>молекулалық</a:t>
            </a:r>
            <a:r>
              <a:rPr lang="ru-RU" sz="2800" dirty="0">
                <a:latin typeface="JUZ40 FONTS Medium" panose="020B0003030000020004" pitchFamily="34" charset="0"/>
              </a:rPr>
              <a:t> кристалл торы бар </a:t>
            </a:r>
            <a:r>
              <a:rPr lang="ru-RU" sz="2800" dirty="0" err="1">
                <a:latin typeface="JUZ40 FONTS Medium" panose="020B0003030000020004" pitchFamily="34" charset="0"/>
              </a:rPr>
              <a:t>заттар</a:t>
            </a:r>
            <a:r>
              <a:rPr lang="ru-RU" sz="2800" dirty="0">
                <a:latin typeface="JUZ40 FONTS Medium" panose="020B0003030000020004" pitchFamily="34" charset="0"/>
              </a:rPr>
              <a:t> </a:t>
            </a:r>
            <a:r>
              <a:rPr lang="ru-RU" sz="2800" dirty="0" err="1">
                <a:latin typeface="JUZ40 FONTS Medium" panose="020B0003030000020004" pitchFamily="34" charset="0"/>
              </a:rPr>
              <a:t>тобы</a:t>
            </a:r>
            <a:r>
              <a:rPr lang="ru-RU" sz="2800" dirty="0">
                <a:latin typeface="JUZ40 FONTS Medium" panose="020B0003030000020004" pitchFamily="34" charset="0"/>
              </a:rPr>
              <a:t>: 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en-US" sz="2800" dirty="0">
                <a:latin typeface="JUZ40 FONTS Medium" panose="020B0003030000020004" pitchFamily="34" charset="0"/>
              </a:rPr>
              <a:t>A) CO₂, I₂, CH</a:t>
            </a:r>
            <a:r>
              <a:rPr lang="en-US" sz="2800" baseline="-25000" dirty="0">
                <a:latin typeface="JUZ40 FONTS Medium" panose="020B0003030000020004" pitchFamily="34" charset="0"/>
              </a:rPr>
              <a:t>4</a:t>
            </a:r>
            <a:br>
              <a:rPr lang="en-US" sz="2800" dirty="0">
                <a:latin typeface="JUZ40 FONTS Medium" panose="020B0003030000020004" pitchFamily="34" charset="0"/>
              </a:rPr>
            </a:br>
            <a:r>
              <a:rPr lang="en-US" sz="2800" dirty="0">
                <a:latin typeface="JUZ40 FONTS Medium" panose="020B0003030000020004" pitchFamily="34" charset="0"/>
              </a:rPr>
              <a:t>B) NaCl, MgO, </a:t>
            </a:r>
            <a:r>
              <a:rPr lang="en-US" sz="2800" dirty="0" err="1">
                <a:latin typeface="JUZ40 FONTS Medium" panose="020B0003030000020004" pitchFamily="34" charset="0"/>
              </a:rPr>
              <a:t>CaF</a:t>
            </a:r>
            <a:r>
              <a:rPr lang="en-US" sz="2800" dirty="0">
                <a:latin typeface="JUZ40 FONTS Medium" panose="020B0003030000020004" pitchFamily="34" charset="0"/>
              </a:rPr>
              <a:t>₂</a:t>
            </a:r>
            <a:br>
              <a:rPr lang="en-US" sz="2800" dirty="0">
                <a:latin typeface="JUZ40 FONTS Medium" panose="020B0003030000020004" pitchFamily="34" charset="0"/>
              </a:rPr>
            </a:br>
            <a:r>
              <a:rPr lang="en-US" sz="2800" dirty="0">
                <a:latin typeface="JUZ40 FONTS Medium" panose="020B0003030000020004" pitchFamily="34" charset="0"/>
              </a:rPr>
              <a:t>C) Fe, Cu, Al</a:t>
            </a:r>
            <a:br>
              <a:rPr lang="en-US" sz="2800" dirty="0">
                <a:latin typeface="JUZ40 FONTS Medium" panose="020B0003030000020004" pitchFamily="34" charset="0"/>
              </a:rPr>
            </a:br>
            <a:r>
              <a:rPr lang="en-US" sz="2800" dirty="0">
                <a:latin typeface="JUZ40 FONTS Medium" panose="020B0003030000020004" pitchFamily="34" charset="0"/>
              </a:rPr>
              <a:t>D) Si, </a:t>
            </a:r>
            <a:r>
              <a:rPr lang="en-US" sz="2800" dirty="0" err="1">
                <a:latin typeface="JUZ40 FONTS Medium" panose="020B0003030000020004" pitchFamily="34" charset="0"/>
              </a:rPr>
              <a:t>SiO</a:t>
            </a:r>
            <a:r>
              <a:rPr lang="en-US" sz="2800" dirty="0">
                <a:latin typeface="JUZ40 FONTS Medium" panose="020B0003030000020004" pitchFamily="34" charset="0"/>
              </a:rPr>
              <a:t>₂, BN</a:t>
            </a:r>
            <a:endParaRPr lang="ru-KZ" sz="28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555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4E2-B08A-2A60-6454-4100E87B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E98435-45DA-151F-6AD6-CC94013D4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72203B1-2C4F-28B7-1615-3CF9F2A5A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lvl="0" algn="l"/>
            <a:r>
              <a:rPr lang="kk-KZ" sz="3200" dirty="0">
                <a:latin typeface="JUZ40 FONTS Medium" panose="020B0003030000020004" pitchFamily="34" charset="0"/>
              </a:rPr>
              <a:t>Химиялық байланысы полюсті, бірақ молекуласы полюсті емес қосылыс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ru-RU" sz="3200" dirty="0">
                <a:latin typeface="JUZ40 FONTS Medium" panose="020B0003030000020004" pitchFamily="34" charset="0"/>
              </a:rPr>
              <a:t>СО</a:t>
            </a:r>
            <a:r>
              <a:rPr lang="ru-RU" sz="3200" baseline="-25000" dirty="0">
                <a:latin typeface="JUZ40 FONTS Medium" panose="020B0003030000020004" pitchFamily="34" charset="0"/>
              </a:rPr>
              <a:t>2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K</a:t>
            </a:r>
            <a:r>
              <a:rPr lang="ru-RU" sz="3200" baseline="-25000" dirty="0">
                <a:latin typeface="JUZ40 FONTS Medium" panose="020B0003030000020004" pitchFamily="34" charset="0"/>
              </a:rPr>
              <a:t>2</a:t>
            </a:r>
            <a:r>
              <a:rPr lang="en-US" sz="3200" dirty="0">
                <a:latin typeface="JUZ40 FONTS Medium" panose="020B0003030000020004" pitchFamily="34" charset="0"/>
              </a:rPr>
              <a:t>S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H</a:t>
            </a:r>
            <a:r>
              <a:rPr lang="en-US" sz="3200" baseline="-25000" dirty="0">
                <a:latin typeface="JUZ40 FONTS Medium" panose="020B0003030000020004" pitchFamily="34" charset="0"/>
              </a:rPr>
              <a:t>2</a:t>
            </a:r>
            <a:r>
              <a:rPr lang="en-US" sz="3200" dirty="0">
                <a:latin typeface="JUZ40 FONTS Medium" panose="020B0003030000020004" pitchFamily="34" charset="0"/>
              </a:rPr>
              <a:t>O</a:t>
            </a:r>
            <a:r>
              <a:rPr lang="en-US" sz="3200" baseline="-25000" dirty="0">
                <a:latin typeface="JUZ40 FONTS Medium" panose="020B0003030000020004" pitchFamily="34" charset="0"/>
              </a:rPr>
              <a:t> 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NH</a:t>
            </a:r>
            <a:r>
              <a:rPr lang="en-US" sz="3200" baseline="-25000" dirty="0">
                <a:latin typeface="JUZ40 FONTS Medium" panose="020B0003030000020004" pitchFamily="34" charset="0"/>
              </a:rPr>
              <a:t>3</a:t>
            </a:r>
            <a:r>
              <a:rPr lang="en-US" sz="3200" dirty="0">
                <a:latin typeface="JUZ40 FONTS Medium" panose="020B0003030000020004" pitchFamily="34" charset="0"/>
              </a:rPr>
              <a:t> 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7633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CB78F-6ACA-BDA5-8CB0-612B7BF2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5952DA-3AFA-A4DF-3007-D23EA72DF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56ABB3-3EDA-323E-1327-FC3109476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lvl="0" algn="l"/>
            <a:r>
              <a:rPr lang="kk-KZ" sz="3200" dirty="0">
                <a:latin typeface="JUZ40 FONTS Medium" panose="020B0003030000020004" pitchFamily="34" charset="0"/>
              </a:rPr>
              <a:t>K</a:t>
            </a:r>
            <a:r>
              <a:rPr lang="kk-KZ" sz="3200" baseline="-25000" dirty="0">
                <a:latin typeface="JUZ40 FONTS Medium" panose="020B0003030000020004" pitchFamily="34" charset="0"/>
              </a:rPr>
              <a:t>2</a:t>
            </a:r>
            <a:r>
              <a:rPr lang="kk-KZ" sz="3200" dirty="0">
                <a:latin typeface="JUZ40 FONTS Medium" panose="020B0003030000020004" pitchFamily="34" charset="0"/>
              </a:rPr>
              <a:t>SO</a:t>
            </a:r>
            <a:r>
              <a:rPr lang="kk-KZ" sz="3200" baseline="-25000" dirty="0">
                <a:latin typeface="JUZ40 FONTS Medium" panose="020B0003030000020004" pitchFamily="34" charset="0"/>
              </a:rPr>
              <a:t>4</a:t>
            </a:r>
            <a:r>
              <a:rPr lang="kk-KZ" sz="3200" dirty="0">
                <a:latin typeface="JUZ40 FONTS Medium" panose="020B0003030000020004" pitchFamily="34" charset="0"/>
              </a:rPr>
              <a:t>-тегі барлық ковалентті полюсті байланыс саны 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2 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3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4</a:t>
            </a:r>
            <a:endParaRPr lang="ru-KZ" sz="32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3200" dirty="0">
                <a:latin typeface="JUZ40 FONTS Medium" panose="020B0003030000020004" pitchFamily="34" charset="0"/>
              </a:rPr>
              <a:t>5 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1464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0364D-D63B-6548-B6CE-3D5AC7EE5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450C88-8A41-14DA-46A0-2BA387C17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CD0BA130-3CAD-A848-23EE-B57D510BBC1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63206" y="1425645"/>
                <a:ext cx="11265588" cy="3364069"/>
              </a:xfrm>
            </p:spPr>
            <p:txBody>
              <a:bodyPr>
                <a:noAutofit/>
              </a:bodyPr>
              <a:lstStyle/>
              <a:p>
                <a:pPr lvl="0" algn="l"/>
                <a14:m>
                  <m:oMath xmlns:m="http://schemas.openxmlformats.org/officeDocument/2006/math">
                    <m:sSub>
                      <m:sSubPr>
                        <m:ctrlPr>
                          <a:rPr lang="ru-KZ" sz="32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k-KZ" sz="3200" b="0" i="0"/>
                          <m:t>S</m:t>
                        </m:r>
                        <m:r>
                          <m:rPr>
                            <m:sty m:val="p"/>
                          </m:rPr>
                          <a:rPr lang="en-US" sz="3200" b="0" i="0"/>
                          <m:t>O</m:t>
                        </m:r>
                      </m:e>
                      <m:sub>
                        <m:r>
                          <a:rPr lang="kk-KZ" sz="3200" b="0" i="0"/>
                          <m:t>2</m:t>
                        </m:r>
                      </m:sub>
                    </m:sSub>
                    <m:r>
                      <a:rPr lang="kk-KZ" sz="3200" b="0" i="0"/>
                      <m:t>+</m:t>
                    </m:r>
                    <m:sSub>
                      <m:sSubPr>
                        <m:ctrlPr>
                          <a:rPr lang="ru-KZ" sz="32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k-KZ" sz="3200" b="0" i="0"/>
                          <m:t>O</m:t>
                        </m:r>
                      </m:e>
                      <m:sub>
                        <m:r>
                          <a:rPr lang="kk-KZ" sz="3200" b="0" i="0"/>
                          <m:t>2</m:t>
                        </m:r>
                      </m:sub>
                    </m:sSub>
                    <m:box>
                      <m:boxPr>
                        <m:ctrlPr>
                          <a:rPr lang="ru-KZ" sz="3200"/>
                        </m:ctrlPr>
                      </m:boxPr>
                      <m:e>
                        <m:groupChr>
                          <m:groupChrPr>
                            <m:chr m:val="→"/>
                            <m:vertJc m:val="bot"/>
                            <m:ctrlPr>
                              <a:rPr lang="ru-KZ" sz="3200"/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ru-KZ" sz="3200"/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kk-KZ" sz="3200" b="0" i="0"/>
                                  <m:t>V</m:t>
                                </m:r>
                              </m:e>
                              <m:sub>
                                <m:r>
                                  <a:rPr lang="kk-KZ" sz="3200" b="0" i="0"/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KZ" sz="3200"/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kk-KZ" sz="3200" b="0" i="0"/>
                                  <m:t>O</m:t>
                                </m:r>
                              </m:e>
                              <m:sub>
                                <m:r>
                                  <a:rPr lang="kk-KZ" sz="3200" b="0" i="0"/>
                                  <m:t>5</m:t>
                                </m:r>
                              </m:sub>
                            </m:sSub>
                          </m:e>
                        </m:groupChr>
                      </m:e>
                    </m:box>
                    <m:r>
                      <a:rPr lang="kk-KZ" sz="3200" b="0" i="0"/>
                      <m:t>2</m:t>
                    </m:r>
                    <m:sSub>
                      <m:sSubPr>
                        <m:ctrlPr>
                          <a:rPr lang="ru-KZ" sz="32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k-KZ" sz="3200" b="0" i="0"/>
                          <m:t>S</m:t>
                        </m:r>
                        <m:r>
                          <m:rPr>
                            <m:sty m:val="p"/>
                          </m:rPr>
                          <a:rPr lang="en-US" sz="3200" b="0" i="0"/>
                          <m:t>O</m:t>
                        </m:r>
                      </m:e>
                      <m:sub>
                        <m:r>
                          <a:rPr lang="kk-KZ" sz="3200" b="0" i="0"/>
                          <m:t>3</m:t>
                        </m:r>
                      </m:sub>
                    </m:sSub>
                  </m:oMath>
                </a14:m>
                <a:r>
                  <a:rPr lang="kk-KZ" sz="3200" dirty="0">
                    <a:latin typeface="JUZ40 FONTS Medium" panose="020B0003030000020004" pitchFamily="34" charset="0"/>
                  </a:rPr>
                  <a:t>  реакциясы туралы дұрыс тұжырым </a:t>
                </a:r>
                <a:endParaRPr lang="ru-KZ" sz="3200" dirty="0">
                  <a:latin typeface="JUZ40 FONTS Medium" panose="020B0003030000020004" pitchFamily="34" charset="0"/>
                </a:endParaRPr>
              </a:p>
              <a:p>
                <a:pPr algn="l"/>
                <a:r>
                  <a:rPr lang="kk-KZ" sz="3200" dirty="0" err="1">
                    <a:latin typeface="JUZ40 FONTS Medium" panose="020B0003030000020004" pitchFamily="34" charset="0"/>
                  </a:rPr>
                  <a:t>A</a:t>
                </a:r>
                <a:r>
                  <a:rPr lang="kk-KZ" sz="3200" dirty="0">
                    <a:latin typeface="JUZ40 FONTS Medium" panose="020B0003030000020004" pitchFamily="34" charset="0"/>
                  </a:rPr>
                  <a:t>) Гомогенді, </a:t>
                </a:r>
                <a:r>
                  <a:rPr lang="kk-KZ" sz="3200" dirty="0" err="1">
                    <a:latin typeface="JUZ40 FONTS Medium" panose="020B0003030000020004" pitchFamily="34" charset="0"/>
                  </a:rPr>
                  <a:t>эндотермиялық</a:t>
                </a:r>
                <a:br>
                  <a:rPr lang="kk-KZ" sz="3200" dirty="0">
                    <a:latin typeface="JUZ40 FONTS Medium" panose="020B0003030000020004" pitchFamily="34" charset="0"/>
                  </a:rPr>
                </a:br>
                <a:r>
                  <a:rPr lang="kk-KZ" sz="3200" dirty="0" err="1">
                    <a:latin typeface="JUZ40 FONTS Medium" panose="020B0003030000020004" pitchFamily="34" charset="0"/>
                  </a:rPr>
                  <a:t>B</a:t>
                </a:r>
                <a:r>
                  <a:rPr lang="kk-KZ" sz="3200" dirty="0">
                    <a:latin typeface="JUZ40 FONTS Medium" panose="020B0003030000020004" pitchFamily="34" charset="0"/>
                  </a:rPr>
                  <a:t>) Гомогенді, катализдік реакция</a:t>
                </a:r>
                <a:br>
                  <a:rPr lang="kk-KZ" sz="3200" dirty="0">
                    <a:latin typeface="JUZ40 FONTS Medium" panose="020B0003030000020004" pitchFamily="34" charset="0"/>
                  </a:rPr>
                </a:br>
                <a:r>
                  <a:rPr lang="kk-KZ" sz="3200" dirty="0">
                    <a:latin typeface="JUZ40 FONTS Medium" panose="020B0003030000020004" pitchFamily="34" charset="0"/>
                  </a:rPr>
                  <a:t>C) Гетерогенді, айырылу реакциясы</a:t>
                </a:r>
                <a:br>
                  <a:rPr lang="kk-KZ" sz="3200" dirty="0">
                    <a:latin typeface="JUZ40 FONTS Medium" panose="020B0003030000020004" pitchFamily="34" charset="0"/>
                  </a:rPr>
                </a:br>
                <a:r>
                  <a:rPr lang="kk-KZ" sz="3200" dirty="0">
                    <a:latin typeface="JUZ40 FONTS Medium" panose="020B0003030000020004" pitchFamily="34" charset="0"/>
                  </a:rPr>
                  <a:t>D) Гетерогенді, тотығу-тотықсыздану емес</a:t>
                </a:r>
                <a:endParaRPr lang="ru-KZ" sz="3200" dirty="0">
                  <a:latin typeface="JUZ40 FONTS Medium" panose="020B0003030000020004" pitchFamily="34" charset="0"/>
                </a:endParaRPr>
              </a:p>
            </p:txBody>
          </p:sp>
        </mc:Choice>
        <mc:Fallback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CD0BA130-3CAD-A848-23EE-B57D510BBC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63206" y="1425645"/>
                <a:ext cx="11265588" cy="3364069"/>
              </a:xfrm>
              <a:blipFill>
                <a:blip r:embed="rId3"/>
                <a:stretch>
                  <a:fillRect l="-1351" t="-1128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9934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77452-2686-C86B-6206-10E31CFF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EA1639-0006-280C-09EB-64D6F5EA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9E799F-8684-8B1F-D10D-1C6F77971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 err="1">
                <a:latin typeface="JUZ40 FONTS Medium" panose="020B0003030000020004" pitchFamily="34" charset="0"/>
              </a:rPr>
              <a:t>P</a:t>
            </a:r>
            <a:r>
              <a:rPr lang="kk-KZ" dirty="0">
                <a:latin typeface="JUZ40 FONTS Medium" panose="020B0003030000020004" pitchFamily="34" charset="0"/>
              </a:rPr>
              <a:t> – </a:t>
            </a:r>
            <a:r>
              <a:rPr lang="kk-KZ" dirty="0" err="1">
                <a:latin typeface="JUZ40 FONTS Medium" panose="020B0003030000020004" pitchFamily="34" charset="0"/>
              </a:rPr>
              <a:t>S</a:t>
            </a:r>
            <a:r>
              <a:rPr lang="kk-KZ" dirty="0">
                <a:latin typeface="JUZ40 FONTS Medium" panose="020B0003030000020004" pitchFamily="34" charset="0"/>
              </a:rPr>
              <a:t> – </a:t>
            </a:r>
            <a:r>
              <a:rPr lang="kk-KZ" dirty="0" err="1">
                <a:latin typeface="JUZ40 FONTS Medium" panose="020B0003030000020004" pitchFamily="34" charset="0"/>
              </a:rPr>
              <a:t>Cl</a:t>
            </a:r>
            <a:r>
              <a:rPr lang="kk-KZ" dirty="0">
                <a:latin typeface="JUZ40 FONTS Medium" panose="020B0003030000020004" pitchFamily="34" charset="0"/>
              </a:rPr>
              <a:t> – </a:t>
            </a:r>
            <a:r>
              <a:rPr lang="kk-KZ" dirty="0" err="1">
                <a:latin typeface="JUZ40 FONTS Medium" panose="020B0003030000020004" pitchFamily="34" charset="0"/>
              </a:rPr>
              <a:t>F</a:t>
            </a:r>
            <a:r>
              <a:rPr lang="kk-KZ" dirty="0">
                <a:latin typeface="JUZ40 FONTS Medium" panose="020B0003030000020004" pitchFamily="34" charset="0"/>
              </a:rPr>
              <a:t> қатары үшін қате тұжырымды таңдаңыз:</a:t>
            </a:r>
            <a:br>
              <a:rPr lang="kk-KZ" dirty="0">
                <a:latin typeface="JUZ40 FONTS Medium" panose="020B0003030000020004" pitchFamily="34" charset="0"/>
              </a:rPr>
            </a:br>
            <a:r>
              <a:rPr lang="kk-KZ" dirty="0" err="1">
                <a:latin typeface="JUZ40 FONTS Medium" panose="020B0003030000020004" pitchFamily="34" charset="0"/>
              </a:rPr>
              <a:t>A</a:t>
            </a:r>
            <a:r>
              <a:rPr lang="kk-KZ" dirty="0">
                <a:latin typeface="JUZ40 FONTS Medium" panose="020B0003030000020004" pitchFamily="34" charset="0"/>
              </a:rPr>
              <a:t>) атом радиусы кемиді, иондану энергиясы артады, металдық қасиет кемиді</a:t>
            </a:r>
            <a:br>
              <a:rPr lang="kk-KZ" dirty="0">
                <a:latin typeface="JUZ40 FONTS Medium" panose="020B0003030000020004" pitchFamily="34" charset="0"/>
              </a:rPr>
            </a:br>
            <a:r>
              <a:rPr lang="kk-KZ" dirty="0" err="1">
                <a:latin typeface="JUZ40 FONTS Medium" panose="020B0003030000020004" pitchFamily="34" charset="0"/>
              </a:rPr>
              <a:t>B</a:t>
            </a:r>
            <a:r>
              <a:rPr lang="kk-KZ" dirty="0">
                <a:latin typeface="JUZ40 FONTS Medium" panose="020B0003030000020004" pitchFamily="34" charset="0"/>
              </a:rPr>
              <a:t>) </a:t>
            </a:r>
            <a:r>
              <a:rPr lang="kk-KZ" dirty="0" err="1">
                <a:latin typeface="JUZ40 FONTS Medium" panose="020B0003030000020004" pitchFamily="34" charset="0"/>
              </a:rPr>
              <a:t>электронтартқыштық</a:t>
            </a:r>
            <a:r>
              <a:rPr lang="kk-KZ" dirty="0">
                <a:latin typeface="JUZ40 FONTS Medium" panose="020B0003030000020004" pitchFamily="34" charset="0"/>
              </a:rPr>
              <a:t> артады, </a:t>
            </a:r>
            <a:r>
              <a:rPr lang="kk-KZ" dirty="0" err="1">
                <a:latin typeface="JUZ40 FONTS Medium" panose="020B0003030000020004" pitchFamily="34" charset="0"/>
              </a:rPr>
              <a:t>электртерістілік</a:t>
            </a:r>
            <a:r>
              <a:rPr lang="kk-KZ" dirty="0">
                <a:latin typeface="JUZ40 FONTS Medium" panose="020B0003030000020004" pitchFamily="34" charset="0"/>
              </a:rPr>
              <a:t> артады, бейметалдық қасиет артады</a:t>
            </a:r>
            <a:br>
              <a:rPr lang="kk-KZ" dirty="0">
                <a:latin typeface="JUZ40 FONTS Medium" panose="020B0003030000020004" pitchFamily="34" charset="0"/>
              </a:rPr>
            </a:br>
            <a:r>
              <a:rPr lang="kk-KZ" dirty="0">
                <a:latin typeface="JUZ40 FONTS Medium" panose="020B0003030000020004" pitchFamily="34" charset="0"/>
              </a:rPr>
              <a:t>C) </a:t>
            </a:r>
            <a:r>
              <a:rPr lang="kk-KZ" dirty="0" err="1">
                <a:latin typeface="JUZ40 FONTS Medium" panose="020B0003030000020004" pitchFamily="34" charset="0"/>
              </a:rPr>
              <a:t>электртерістілік</a:t>
            </a:r>
            <a:r>
              <a:rPr lang="kk-KZ" dirty="0">
                <a:latin typeface="JUZ40 FONTS Medium" panose="020B0003030000020004" pitchFamily="34" charset="0"/>
              </a:rPr>
              <a:t> артады, тотықтырғыштық қасиет артады, атом радиусы кемиді</a:t>
            </a:r>
            <a:br>
              <a:rPr lang="kk-KZ" dirty="0">
                <a:latin typeface="JUZ40 FONTS Medium" panose="020B0003030000020004" pitchFamily="34" charset="0"/>
              </a:rPr>
            </a:br>
            <a:r>
              <a:rPr lang="kk-KZ" dirty="0">
                <a:latin typeface="JUZ40 FONTS Medium" panose="020B0003030000020004" pitchFamily="34" charset="0"/>
              </a:rPr>
              <a:t>D) бейметалдық қасиет артады, иондану энергиясы артады, атом радиусы артады</a:t>
            </a:r>
            <a:r>
              <a:rPr lang="ru-KZ" sz="3200" dirty="0">
                <a:effectLst/>
                <a:latin typeface="JUZ40 FONTS Medium" panose="020B0003030000020004" pitchFamily="34" charset="0"/>
              </a:rPr>
              <a:t> 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6163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53F29-8F81-C5AA-520F-DBBB4EB4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87FDD0-C285-EA9A-6662-E4CFEFA68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BB76D62-9C6D-A76F-190C-80429CDC0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lvl="0" algn="l"/>
            <a:r>
              <a:rPr lang="kk-KZ" sz="2800" dirty="0">
                <a:latin typeface="JUZ40 FONTS Medium" panose="020B0003030000020004" pitchFamily="34" charset="0"/>
              </a:rPr>
              <a:t> </a:t>
            </a:r>
            <a:r>
              <a:rPr lang="kk-KZ" sz="2800" dirty="0" err="1">
                <a:latin typeface="JUZ40 FONTS Medium" panose="020B0003030000020004" pitchFamily="34" charset="0"/>
              </a:rPr>
              <a:t>Cұйық</a:t>
            </a:r>
            <a:r>
              <a:rPr lang="kk-KZ" sz="2800" dirty="0">
                <a:latin typeface="JUZ40 FONTS Medium" panose="020B0003030000020004" pitchFamily="34" charset="0"/>
              </a:rPr>
              <a:t> желім құрамындағы натрийдың электрондық конфигурациясы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2800" dirty="0">
                <a:latin typeface="JUZ40 FONTS Medium" panose="020B0003030000020004" pitchFamily="34" charset="0"/>
              </a:rPr>
              <a:t>1s</a:t>
            </a:r>
            <a:r>
              <a:rPr lang="en-US" sz="2800" baseline="30000" dirty="0">
                <a:latin typeface="JUZ40 FONTS Medium" panose="020B0003030000020004" pitchFamily="34" charset="0"/>
              </a:rPr>
              <a:t>2</a:t>
            </a:r>
            <a:r>
              <a:rPr lang="en-US" sz="2800" dirty="0">
                <a:latin typeface="JUZ40 FONTS Medium" panose="020B0003030000020004" pitchFamily="34" charset="0"/>
              </a:rPr>
              <a:t>2s</a:t>
            </a:r>
            <a:r>
              <a:rPr lang="en-US" sz="2800" baseline="30000" dirty="0">
                <a:latin typeface="JUZ40 FONTS Medium" panose="020B0003030000020004" pitchFamily="34" charset="0"/>
              </a:rPr>
              <a:t>2</a:t>
            </a:r>
            <a:r>
              <a:rPr lang="en-US" sz="2800" dirty="0">
                <a:latin typeface="JUZ40 FONTS Medium" panose="020B0003030000020004" pitchFamily="34" charset="0"/>
              </a:rPr>
              <a:t>2p</a:t>
            </a:r>
            <a:r>
              <a:rPr lang="en-US" sz="2800" baseline="30000" dirty="0">
                <a:latin typeface="JUZ40 FONTS Medium" panose="020B0003030000020004" pitchFamily="34" charset="0"/>
              </a:rPr>
              <a:t>6</a:t>
            </a:r>
            <a:r>
              <a:rPr lang="en-US" sz="2800" dirty="0">
                <a:latin typeface="JUZ40 FONTS Medium" panose="020B0003030000020004" pitchFamily="34" charset="0"/>
              </a:rPr>
              <a:t>3s</a:t>
            </a:r>
            <a:r>
              <a:rPr lang="en-US" sz="2800" baseline="30000" dirty="0">
                <a:latin typeface="JUZ40 FONTS Medium" panose="020B0003030000020004" pitchFamily="34" charset="0"/>
              </a:rPr>
              <a:t>1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2800" dirty="0">
                <a:latin typeface="JUZ40 FONTS Medium" panose="020B0003030000020004" pitchFamily="34" charset="0"/>
              </a:rPr>
              <a:t>1s</a:t>
            </a:r>
            <a:r>
              <a:rPr lang="en-US" sz="2800" baseline="30000" dirty="0">
                <a:latin typeface="JUZ40 FONTS Medium" panose="020B0003030000020004" pitchFamily="34" charset="0"/>
              </a:rPr>
              <a:t>2</a:t>
            </a:r>
            <a:r>
              <a:rPr lang="en-US" sz="2800" dirty="0">
                <a:latin typeface="JUZ40 FONTS Medium" panose="020B0003030000020004" pitchFamily="34" charset="0"/>
              </a:rPr>
              <a:t>2s</a:t>
            </a:r>
            <a:r>
              <a:rPr lang="en-US" sz="2800" baseline="30000" dirty="0">
                <a:latin typeface="JUZ40 FONTS Medium" panose="020B0003030000020004" pitchFamily="34" charset="0"/>
              </a:rPr>
              <a:t>2</a:t>
            </a:r>
            <a:r>
              <a:rPr lang="en-US" sz="2800" dirty="0">
                <a:latin typeface="JUZ40 FONTS Medium" panose="020B0003030000020004" pitchFamily="34" charset="0"/>
              </a:rPr>
              <a:t>2p</a:t>
            </a:r>
            <a:r>
              <a:rPr lang="en-US" sz="2800" baseline="30000" dirty="0">
                <a:latin typeface="JUZ40 FONTS Medium" panose="020B0003030000020004" pitchFamily="34" charset="0"/>
              </a:rPr>
              <a:t>6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2800" dirty="0">
                <a:latin typeface="JUZ40 FONTS Medium" panose="020B0003030000020004" pitchFamily="34" charset="0"/>
              </a:rPr>
              <a:t>1s</a:t>
            </a:r>
            <a:r>
              <a:rPr lang="en-US" sz="2800" baseline="30000" dirty="0">
                <a:latin typeface="JUZ40 FONTS Medium" panose="020B0003030000020004" pitchFamily="34" charset="0"/>
              </a:rPr>
              <a:t>2</a:t>
            </a:r>
            <a:r>
              <a:rPr lang="en-US" sz="2800" dirty="0">
                <a:latin typeface="JUZ40 FONTS Medium" panose="020B0003030000020004" pitchFamily="34" charset="0"/>
              </a:rPr>
              <a:t>2s</a:t>
            </a:r>
            <a:r>
              <a:rPr lang="en-US" sz="2800" baseline="30000" dirty="0">
                <a:latin typeface="JUZ40 FONTS Medium" panose="020B0003030000020004" pitchFamily="34" charset="0"/>
              </a:rPr>
              <a:t>2</a:t>
            </a:r>
            <a:r>
              <a:rPr lang="en-US" sz="2800" dirty="0">
                <a:latin typeface="JUZ40 FONTS Medium" panose="020B0003030000020004" pitchFamily="34" charset="0"/>
              </a:rPr>
              <a:t>2p</a:t>
            </a:r>
            <a:r>
              <a:rPr lang="en-US" sz="2800" baseline="30000" dirty="0">
                <a:latin typeface="JUZ40 FONTS Medium" panose="020B0003030000020004" pitchFamily="34" charset="0"/>
              </a:rPr>
              <a:t>6</a:t>
            </a:r>
            <a:r>
              <a:rPr lang="en-US" sz="2800" dirty="0">
                <a:latin typeface="JUZ40 FONTS Medium" panose="020B0003030000020004" pitchFamily="34" charset="0"/>
              </a:rPr>
              <a:t>3s</a:t>
            </a:r>
            <a:r>
              <a:rPr lang="en-US" sz="2800" baseline="30000" dirty="0">
                <a:latin typeface="JUZ40 FONTS Medium" panose="020B0003030000020004" pitchFamily="34" charset="0"/>
              </a:rPr>
              <a:t>2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lvl="0" algn="l"/>
            <a:r>
              <a:rPr lang="en-US" sz="2800" dirty="0">
                <a:latin typeface="JUZ40 FONTS Medium" panose="020B0003030000020004" pitchFamily="34" charset="0"/>
              </a:rPr>
              <a:t>1s</a:t>
            </a:r>
            <a:r>
              <a:rPr lang="en-US" sz="2800" baseline="30000" dirty="0">
                <a:latin typeface="JUZ40 FONTS Medium" panose="020B0003030000020004" pitchFamily="34" charset="0"/>
              </a:rPr>
              <a:t>2</a:t>
            </a:r>
            <a:r>
              <a:rPr lang="en-US" sz="2800" dirty="0">
                <a:latin typeface="JUZ40 FONTS Medium" panose="020B0003030000020004" pitchFamily="34" charset="0"/>
              </a:rPr>
              <a:t>2s</a:t>
            </a:r>
            <a:r>
              <a:rPr lang="en-US" sz="2800" baseline="30000" dirty="0">
                <a:latin typeface="JUZ40 FONTS Medium" panose="020B0003030000020004" pitchFamily="34" charset="0"/>
              </a:rPr>
              <a:t>2</a:t>
            </a:r>
            <a:r>
              <a:rPr lang="en-US" sz="2800" dirty="0">
                <a:latin typeface="JUZ40 FONTS Medium" panose="020B0003030000020004" pitchFamily="34" charset="0"/>
              </a:rPr>
              <a:t>2p</a:t>
            </a:r>
            <a:r>
              <a:rPr lang="en-US" sz="2800" baseline="30000" dirty="0">
                <a:latin typeface="JUZ40 FONTS Medium" panose="020B0003030000020004" pitchFamily="34" charset="0"/>
              </a:rPr>
              <a:t>5</a:t>
            </a:r>
            <a:endParaRPr lang="ru-KZ" sz="28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0884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34A05-3357-FB91-C362-42A33AB5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D51FDC-4F4B-E0D5-0654-1E92DC293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1EC6AE-67DE-5685-472F-45FC1405C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lvl="0" algn="l"/>
            <a:r>
              <a:rPr lang="kk-KZ" sz="2800" dirty="0">
                <a:latin typeface="JUZ40 FONTS Medium" panose="020B0003030000020004" pitchFamily="34" charset="0"/>
              </a:rPr>
              <a:t>Мына қатарда орналасқан элементтердің I, </a:t>
            </a:r>
            <a:r>
              <a:rPr lang="kk-KZ" sz="2800" dirty="0" err="1">
                <a:latin typeface="JUZ40 FONTS Medium" panose="020B0003030000020004" pitchFamily="34" charset="0"/>
              </a:rPr>
              <a:t>Br</a:t>
            </a:r>
            <a:r>
              <a:rPr lang="kk-KZ" sz="2800" dirty="0">
                <a:latin typeface="JUZ40 FONTS Medium" panose="020B0003030000020004" pitchFamily="34" charset="0"/>
              </a:rPr>
              <a:t>, </a:t>
            </a:r>
            <a:r>
              <a:rPr lang="kk-KZ" sz="2800" dirty="0" err="1">
                <a:latin typeface="JUZ40 FONTS Medium" panose="020B0003030000020004" pitchFamily="34" charset="0"/>
              </a:rPr>
              <a:t>Cl</a:t>
            </a:r>
            <a:r>
              <a:rPr lang="kk-KZ" sz="2800" dirty="0">
                <a:latin typeface="JUZ40 FONTS Medium" panose="020B0003030000020004" pitchFamily="34" charset="0"/>
              </a:rPr>
              <a:t>, </a:t>
            </a:r>
            <a:r>
              <a:rPr lang="kk-KZ" sz="2800" dirty="0" err="1">
                <a:latin typeface="JUZ40 FONTS Medium" panose="020B0003030000020004" pitchFamily="34" charset="0"/>
              </a:rPr>
              <a:t>Mn</a:t>
            </a:r>
            <a:r>
              <a:rPr lang="kk-KZ" sz="2800" dirty="0">
                <a:latin typeface="JUZ40 FONTS Medium" panose="020B0003030000020004" pitchFamily="34" charset="0"/>
              </a:rPr>
              <a:t> ортақ белгісі 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>
                <a:latin typeface="JUZ40 FONTS Medium" panose="020B0003030000020004" pitchFamily="34" charset="0"/>
              </a:rPr>
              <a:t>А) барлығы қосымша топша элементтері 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 err="1">
                <a:latin typeface="JUZ40 FONTS Medium" panose="020B0003030000020004" pitchFamily="34" charset="0"/>
              </a:rPr>
              <a:t>В</a:t>
            </a:r>
            <a:r>
              <a:rPr lang="kk-KZ" sz="2800" dirty="0">
                <a:latin typeface="JUZ40 FONTS Medium" panose="020B0003030000020004" pitchFamily="34" charset="0"/>
              </a:rPr>
              <a:t>) энергетикалық деңгейлерде электрондардың таралуы бірдей 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 err="1">
                <a:latin typeface="JUZ40 FONTS Medium" panose="020B0003030000020004" pitchFamily="34" charset="0"/>
              </a:rPr>
              <a:t>С</a:t>
            </a:r>
            <a:r>
              <a:rPr lang="kk-KZ" sz="2800" dirty="0">
                <a:latin typeface="JUZ40 FONTS Medium" panose="020B0003030000020004" pitchFamily="34" charset="0"/>
              </a:rPr>
              <a:t>) жоғары </a:t>
            </a:r>
            <a:r>
              <a:rPr lang="kk-KZ" sz="2800" dirty="0" err="1">
                <a:latin typeface="JUZ40 FONTS Medium" panose="020B0003030000020004" pitchFamily="34" charset="0"/>
              </a:rPr>
              <a:t>валенттіліктері</a:t>
            </a:r>
            <a:r>
              <a:rPr lang="kk-KZ" sz="2800" dirty="0">
                <a:latin typeface="JUZ40 FONTS Medium" panose="020B0003030000020004" pitchFamily="34" charset="0"/>
              </a:rPr>
              <a:t> бірдей 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 err="1">
                <a:latin typeface="JUZ40 FONTS Medium" panose="020B0003030000020004" pitchFamily="34" charset="0"/>
              </a:rPr>
              <a:t>Д</a:t>
            </a:r>
            <a:r>
              <a:rPr lang="kk-KZ" sz="2800" dirty="0">
                <a:latin typeface="JUZ40 FONTS Medium" panose="020B0003030000020004" pitchFamily="34" charset="0"/>
              </a:rPr>
              <a:t>) дұрыс жауабы жоқ</a:t>
            </a:r>
            <a:endParaRPr lang="ru-KZ" sz="28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7643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6A90-F3C6-D0CA-BDE5-281FC683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F17B99-2951-84CB-BAE8-05BE83154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FAD9D9-4D56-80A6-F3AC-3108C5C18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sz="2800" dirty="0">
                <a:latin typeface="JUZ40 FONTS Medium" panose="020B0003030000020004" pitchFamily="34" charset="0"/>
              </a:rPr>
              <a:t>1s</a:t>
            </a:r>
            <a:r>
              <a:rPr lang="kk-KZ" sz="2800" baseline="30000" dirty="0">
                <a:latin typeface="JUZ40 FONTS Medium" panose="020B0003030000020004" pitchFamily="34" charset="0"/>
              </a:rPr>
              <a:t>2</a:t>
            </a:r>
            <a:r>
              <a:rPr lang="kk-KZ" sz="2800" dirty="0">
                <a:latin typeface="JUZ40 FONTS Medium" panose="020B0003030000020004" pitchFamily="34" charset="0"/>
              </a:rPr>
              <a:t>2s</a:t>
            </a:r>
            <a:r>
              <a:rPr lang="kk-KZ" sz="2800" baseline="30000" dirty="0">
                <a:latin typeface="JUZ40 FONTS Medium" panose="020B0003030000020004" pitchFamily="34" charset="0"/>
              </a:rPr>
              <a:t>2</a:t>
            </a:r>
            <a:r>
              <a:rPr lang="kk-KZ" sz="2800" dirty="0">
                <a:latin typeface="JUZ40 FONTS Medium" panose="020B0003030000020004" pitchFamily="34" charset="0"/>
              </a:rPr>
              <a:t>2p</a:t>
            </a:r>
            <a:r>
              <a:rPr lang="kk-KZ" sz="2800" baseline="30000" dirty="0">
                <a:latin typeface="JUZ40 FONTS Medium" panose="020B0003030000020004" pitchFamily="34" charset="0"/>
              </a:rPr>
              <a:t>6</a:t>
            </a:r>
            <a:r>
              <a:rPr lang="kk-KZ" sz="2800" dirty="0">
                <a:latin typeface="JUZ40 FONTS Medium" panose="020B0003030000020004" pitchFamily="34" charset="0"/>
              </a:rPr>
              <a:t>3s</a:t>
            </a:r>
            <a:r>
              <a:rPr lang="kk-KZ" sz="2800" baseline="30000" dirty="0">
                <a:latin typeface="JUZ40 FONTS Medium" panose="020B0003030000020004" pitchFamily="34" charset="0"/>
              </a:rPr>
              <a:t>2</a:t>
            </a:r>
            <a:r>
              <a:rPr lang="kk-KZ" sz="2800" dirty="0">
                <a:latin typeface="JUZ40 FONTS Medium" panose="020B0003030000020004" pitchFamily="34" charset="0"/>
              </a:rPr>
              <a:t>3p</a:t>
            </a:r>
            <a:r>
              <a:rPr lang="kk-KZ" sz="2800" baseline="30000" dirty="0">
                <a:latin typeface="JUZ40 FONTS Medium" panose="020B0003030000020004" pitchFamily="34" charset="0"/>
              </a:rPr>
              <a:t>6</a:t>
            </a:r>
            <a:r>
              <a:rPr lang="kk-KZ" sz="2800" dirty="0">
                <a:latin typeface="JUZ40 FONTS Medium" panose="020B0003030000020004" pitchFamily="34" charset="0"/>
              </a:rPr>
              <a:t> электрондық конфигурацияға сәйкес келеді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kk-KZ" sz="2800" dirty="0" err="1">
                <a:latin typeface="JUZ40 FONTS Medium" panose="020B0003030000020004" pitchFamily="34" charset="0"/>
              </a:rPr>
              <a:t>A</a:t>
            </a:r>
            <a:r>
              <a:rPr lang="kk-KZ" sz="2800" dirty="0">
                <a:latin typeface="JUZ40 FONTS Medium" panose="020B0003030000020004" pitchFamily="34" charset="0"/>
              </a:rPr>
              <a:t>) C</a:t>
            </a:r>
            <a:r>
              <a:rPr lang="en-US" sz="2800" dirty="0">
                <a:latin typeface="JUZ40 FONTS Medium" panose="020B0003030000020004" pitchFamily="34" charset="0"/>
              </a:rPr>
              <a:t>l</a:t>
            </a:r>
            <a:r>
              <a:rPr lang="en-US" sz="2800" baseline="30000" dirty="0">
                <a:latin typeface="JUZ40 FONTS Medium" panose="020B0003030000020004" pitchFamily="34" charset="0"/>
              </a:rPr>
              <a:t>-</a:t>
            </a:r>
            <a:r>
              <a:rPr lang="en-US" sz="2800" dirty="0">
                <a:latin typeface="JUZ40 FONTS Medium" panose="020B0003030000020004" pitchFamily="34" charset="0"/>
              </a:rPr>
              <a:t>, </a:t>
            </a:r>
            <a:r>
              <a:rPr lang="en-US" sz="2800" dirty="0" err="1">
                <a:latin typeface="JUZ40 FONTS Medium" panose="020B0003030000020004" pitchFamily="34" charset="0"/>
              </a:rPr>
              <a:t>Ar</a:t>
            </a:r>
            <a:r>
              <a:rPr lang="en-US" sz="2800" dirty="0">
                <a:latin typeface="JUZ40 FONTS Medium" panose="020B0003030000020004" pitchFamily="34" charset="0"/>
              </a:rPr>
              <a:t>, K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en-US" sz="2800" dirty="0">
                <a:latin typeface="JUZ40 FONTS Medium" panose="020B0003030000020004" pitchFamily="34" charset="0"/>
              </a:rPr>
              <a:t>B) Ca, K</a:t>
            </a:r>
            <a:r>
              <a:rPr lang="en-US" sz="2800" baseline="30000" dirty="0">
                <a:latin typeface="JUZ40 FONTS Medium" panose="020B0003030000020004" pitchFamily="34" charset="0"/>
              </a:rPr>
              <a:t>+</a:t>
            </a:r>
            <a:r>
              <a:rPr lang="en-US" sz="2800" dirty="0">
                <a:latin typeface="JUZ40 FONTS Medium" panose="020B0003030000020004" pitchFamily="34" charset="0"/>
              </a:rPr>
              <a:t>, </a:t>
            </a:r>
            <a:r>
              <a:rPr lang="en-US" sz="2800" dirty="0" err="1">
                <a:latin typeface="JUZ40 FONTS Medium" panose="020B0003030000020004" pitchFamily="34" charset="0"/>
              </a:rPr>
              <a:t>Ar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en-US" sz="2800" dirty="0">
                <a:latin typeface="JUZ40 FONTS Medium" panose="020B0003030000020004" pitchFamily="34" charset="0"/>
              </a:rPr>
              <a:t>C) </a:t>
            </a:r>
            <a:r>
              <a:rPr lang="ru-KZ" sz="2800" dirty="0">
                <a:latin typeface="JUZ40 FONTS Medium" panose="020B0003030000020004" pitchFamily="34" charset="0"/>
              </a:rPr>
              <a:t>Ca, К, </a:t>
            </a:r>
            <a:r>
              <a:rPr lang="en-US" sz="2800" dirty="0" err="1">
                <a:latin typeface="JUZ40 FONTS Medium" panose="020B0003030000020004" pitchFamily="34" charset="0"/>
              </a:rPr>
              <a:t>Ar</a:t>
            </a:r>
            <a:endParaRPr lang="ru-KZ" sz="2800" dirty="0">
              <a:latin typeface="JUZ40 FONTS Medium" panose="020B0003030000020004" pitchFamily="34" charset="0"/>
            </a:endParaRPr>
          </a:p>
          <a:p>
            <a:pPr algn="l"/>
            <a:r>
              <a:rPr lang="en-US" sz="2800" dirty="0">
                <a:latin typeface="JUZ40 FONTS Medium" panose="020B0003030000020004" pitchFamily="34" charset="0"/>
              </a:rPr>
              <a:t>D) Ca</a:t>
            </a:r>
            <a:r>
              <a:rPr lang="en-US" sz="2800" baseline="30000" dirty="0">
                <a:latin typeface="JUZ40 FONTS Medium" panose="020B0003030000020004" pitchFamily="34" charset="0"/>
              </a:rPr>
              <a:t>2+</a:t>
            </a:r>
            <a:r>
              <a:rPr lang="kk-KZ" sz="2800" dirty="0">
                <a:latin typeface="JUZ40 FONTS Medium" panose="020B0003030000020004" pitchFamily="34" charset="0"/>
              </a:rPr>
              <a:t>, </a:t>
            </a:r>
            <a:r>
              <a:rPr lang="en-US" sz="2800" dirty="0">
                <a:latin typeface="JUZ40 FONTS Medium" panose="020B0003030000020004" pitchFamily="34" charset="0"/>
              </a:rPr>
              <a:t>K</a:t>
            </a:r>
            <a:r>
              <a:rPr lang="en-US" sz="2800" baseline="30000" dirty="0">
                <a:latin typeface="JUZ40 FONTS Medium" panose="020B0003030000020004" pitchFamily="34" charset="0"/>
              </a:rPr>
              <a:t>+</a:t>
            </a:r>
            <a:r>
              <a:rPr lang="kk-KZ" sz="2800" dirty="0">
                <a:latin typeface="JUZ40 FONTS Medium" panose="020B0003030000020004" pitchFamily="34" charset="0"/>
              </a:rPr>
              <a:t>, </a:t>
            </a:r>
            <a:r>
              <a:rPr lang="en-US" sz="2800" dirty="0" err="1">
                <a:latin typeface="JUZ40 FONTS Medium" panose="020B0003030000020004" pitchFamily="34" charset="0"/>
              </a:rPr>
              <a:t>Ar</a:t>
            </a:r>
            <a:endParaRPr lang="ru-KZ" sz="28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1137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0950F-BD42-9F43-FEE7-C48A093E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4D60D1-FB6A-91CF-9040-F7BC3AB11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7F747B-6C87-7B7B-2A94-0D30208A7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1425645"/>
            <a:ext cx="11265588" cy="3364069"/>
          </a:xfrm>
        </p:spPr>
        <p:txBody>
          <a:bodyPr>
            <a:noAutofit/>
          </a:bodyPr>
          <a:lstStyle/>
          <a:p>
            <a:pPr algn="l"/>
            <a:r>
              <a:rPr lang="kk-KZ" dirty="0" err="1">
                <a:latin typeface="JUZ40 FONTS Medium" panose="020B0003030000020004" pitchFamily="34" charset="0"/>
              </a:rPr>
              <a:t>P</a:t>
            </a:r>
            <a:r>
              <a:rPr lang="kk-KZ" dirty="0">
                <a:latin typeface="JUZ40 FONTS Medium" panose="020B0003030000020004" pitchFamily="34" charset="0"/>
              </a:rPr>
              <a:t> – </a:t>
            </a:r>
            <a:r>
              <a:rPr lang="kk-KZ" dirty="0" err="1">
                <a:latin typeface="JUZ40 FONTS Medium" panose="020B0003030000020004" pitchFamily="34" charset="0"/>
              </a:rPr>
              <a:t>S</a:t>
            </a:r>
            <a:r>
              <a:rPr lang="kk-KZ" dirty="0">
                <a:latin typeface="JUZ40 FONTS Medium" panose="020B0003030000020004" pitchFamily="34" charset="0"/>
              </a:rPr>
              <a:t> – </a:t>
            </a:r>
            <a:r>
              <a:rPr lang="kk-KZ" dirty="0" err="1">
                <a:latin typeface="JUZ40 FONTS Medium" panose="020B0003030000020004" pitchFamily="34" charset="0"/>
              </a:rPr>
              <a:t>Cl</a:t>
            </a:r>
            <a:r>
              <a:rPr lang="kk-KZ" dirty="0">
                <a:latin typeface="JUZ40 FONTS Medium" panose="020B0003030000020004" pitchFamily="34" charset="0"/>
              </a:rPr>
              <a:t> – </a:t>
            </a:r>
            <a:r>
              <a:rPr lang="kk-KZ" dirty="0" err="1">
                <a:latin typeface="JUZ40 FONTS Medium" panose="020B0003030000020004" pitchFamily="34" charset="0"/>
              </a:rPr>
              <a:t>F</a:t>
            </a:r>
            <a:r>
              <a:rPr lang="kk-KZ" dirty="0">
                <a:latin typeface="JUZ40 FONTS Medium" panose="020B0003030000020004" pitchFamily="34" charset="0"/>
              </a:rPr>
              <a:t> қатары үшін қате тұжырымды таңдаңыз:</a:t>
            </a:r>
            <a:br>
              <a:rPr lang="kk-KZ" dirty="0">
                <a:latin typeface="JUZ40 FONTS Medium" panose="020B0003030000020004" pitchFamily="34" charset="0"/>
              </a:rPr>
            </a:br>
            <a:r>
              <a:rPr lang="kk-KZ" dirty="0" err="1">
                <a:latin typeface="JUZ40 FONTS Medium" panose="020B0003030000020004" pitchFamily="34" charset="0"/>
              </a:rPr>
              <a:t>A</a:t>
            </a:r>
            <a:r>
              <a:rPr lang="kk-KZ" dirty="0">
                <a:latin typeface="JUZ40 FONTS Medium" panose="020B0003030000020004" pitchFamily="34" charset="0"/>
              </a:rPr>
              <a:t>) атом радиусы кемиді, иондану энергиясы артады, металдық қасиет кемиді</a:t>
            </a:r>
            <a:br>
              <a:rPr lang="kk-KZ" dirty="0">
                <a:latin typeface="JUZ40 FONTS Medium" panose="020B0003030000020004" pitchFamily="34" charset="0"/>
              </a:rPr>
            </a:br>
            <a:r>
              <a:rPr lang="kk-KZ" dirty="0" err="1">
                <a:latin typeface="JUZ40 FONTS Medium" panose="020B0003030000020004" pitchFamily="34" charset="0"/>
              </a:rPr>
              <a:t>B</a:t>
            </a:r>
            <a:r>
              <a:rPr lang="kk-KZ" dirty="0">
                <a:latin typeface="JUZ40 FONTS Medium" panose="020B0003030000020004" pitchFamily="34" charset="0"/>
              </a:rPr>
              <a:t>) </a:t>
            </a:r>
            <a:r>
              <a:rPr lang="kk-KZ" dirty="0" err="1">
                <a:latin typeface="JUZ40 FONTS Medium" panose="020B0003030000020004" pitchFamily="34" charset="0"/>
              </a:rPr>
              <a:t>электронтартқыштық</a:t>
            </a:r>
            <a:r>
              <a:rPr lang="kk-KZ" dirty="0">
                <a:latin typeface="JUZ40 FONTS Medium" panose="020B0003030000020004" pitchFamily="34" charset="0"/>
              </a:rPr>
              <a:t> артады, </a:t>
            </a:r>
            <a:r>
              <a:rPr lang="kk-KZ" dirty="0" err="1">
                <a:latin typeface="JUZ40 FONTS Medium" panose="020B0003030000020004" pitchFamily="34" charset="0"/>
              </a:rPr>
              <a:t>электртерістілік</a:t>
            </a:r>
            <a:r>
              <a:rPr lang="kk-KZ" dirty="0">
                <a:latin typeface="JUZ40 FONTS Medium" panose="020B0003030000020004" pitchFamily="34" charset="0"/>
              </a:rPr>
              <a:t> артады, бейметалдық қасиет артады</a:t>
            </a:r>
            <a:br>
              <a:rPr lang="kk-KZ" dirty="0">
                <a:latin typeface="JUZ40 FONTS Medium" panose="020B0003030000020004" pitchFamily="34" charset="0"/>
              </a:rPr>
            </a:br>
            <a:r>
              <a:rPr lang="kk-KZ" dirty="0">
                <a:latin typeface="JUZ40 FONTS Medium" panose="020B0003030000020004" pitchFamily="34" charset="0"/>
              </a:rPr>
              <a:t>C) </a:t>
            </a:r>
            <a:r>
              <a:rPr lang="kk-KZ" dirty="0" err="1">
                <a:latin typeface="JUZ40 FONTS Medium" panose="020B0003030000020004" pitchFamily="34" charset="0"/>
              </a:rPr>
              <a:t>электртерістілік</a:t>
            </a:r>
            <a:r>
              <a:rPr lang="kk-KZ" dirty="0">
                <a:latin typeface="JUZ40 FONTS Medium" panose="020B0003030000020004" pitchFamily="34" charset="0"/>
              </a:rPr>
              <a:t> артады, тотықтырғыштық қасиет артады, атом радиусы кемиді</a:t>
            </a:r>
            <a:br>
              <a:rPr lang="kk-KZ" dirty="0">
                <a:latin typeface="JUZ40 FONTS Medium" panose="020B0003030000020004" pitchFamily="34" charset="0"/>
              </a:rPr>
            </a:br>
            <a:r>
              <a:rPr lang="kk-KZ" dirty="0">
                <a:latin typeface="JUZ40 FONTS Medium" panose="020B0003030000020004" pitchFamily="34" charset="0"/>
              </a:rPr>
              <a:t>D) бейметалдық қасиет артады, иондану энергиясы артады, атом радиусы артады</a:t>
            </a:r>
            <a:r>
              <a:rPr lang="ru-KZ" sz="3200" dirty="0">
                <a:effectLst/>
                <a:latin typeface="JUZ40 FONTS Medium" panose="020B0003030000020004" pitchFamily="34" charset="0"/>
              </a:rPr>
              <a:t> </a:t>
            </a:r>
            <a:endParaRPr lang="ru-KZ" sz="3200" dirty="0"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069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8ACBE-557F-2361-30D1-8FAC0A7B8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88BD71-AE6E-8285-58A3-D3E05C4B0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2D77DFB-FABE-5B84-7B39-F6EC42309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06" y="2394857"/>
            <a:ext cx="11265588" cy="2394857"/>
          </a:xfrm>
        </p:spPr>
        <p:txBody>
          <a:bodyPr>
            <a:noAutofit/>
          </a:bodyPr>
          <a:lstStyle/>
          <a:p>
            <a:pPr lvl="0"/>
            <a:r>
              <a:rPr lang="kk-KZ" sz="7200" dirty="0">
                <a:solidFill>
                  <a:srgbClr val="007EFF"/>
                </a:solidFill>
                <a:latin typeface="JUZ40 FONTS Medium" panose="020B0003030000020004" pitchFamily="34" charset="0"/>
              </a:rPr>
              <a:t>Еңбек бәрін жеңбек</a:t>
            </a:r>
            <a:endParaRPr lang="ru-KZ" sz="7200" dirty="0">
              <a:solidFill>
                <a:srgbClr val="007EFF"/>
              </a:solidFill>
              <a:latin typeface="JUZ40 FONTS Medium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4384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1817</Words>
  <Application>Microsoft Macintosh PowerPoint</Application>
  <PresentationFormat>Широкоэкранный</PresentationFormat>
  <Paragraphs>310</Paragraphs>
  <Slides>64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64</vt:i4>
      </vt:variant>
    </vt:vector>
  </HeadingPairs>
  <TitlesOfParts>
    <vt:vector size="70" baseType="lpstr">
      <vt:lpstr>Aptos</vt:lpstr>
      <vt:lpstr>Aptos Display</vt:lpstr>
      <vt:lpstr>Arial</vt:lpstr>
      <vt:lpstr>Cambria Math</vt:lpstr>
      <vt:lpstr>JUZ40 FONTS Medium</vt:lpstr>
      <vt:lpstr>Тема Office</vt:lpstr>
      <vt:lpstr>№ 1 Практикалық сабақ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Дамир Казбеков</dc:creator>
  <cp:lastModifiedBy>Дамир Казбеков</cp:lastModifiedBy>
  <cp:revision>2</cp:revision>
  <dcterms:created xsi:type="dcterms:W3CDTF">2026-03-17T09:36:48Z</dcterms:created>
  <dcterms:modified xsi:type="dcterms:W3CDTF">2026-03-17T11:24:07Z</dcterms:modified>
</cp:coreProperties>
</file>